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4B1D6B"/>
            </a:solidFill>
            <a:effectLst/>
          </c:spPr>
          <c:invertIfNegative val="0"/>
          <c:dLbls>
            <c:numFmt formatCode="&quot;₹&quot;0.00&quot;M&quot;" sourceLinked="0"/>
            <c:txPr>
              <a:bodyPr/>
              <a:lstStyle/>
              <a:p>
                <a:pPr>
                  <a:defRPr b="0" i="0" strike="noStrike" sz="1300" u="none">
                    <a:solidFill>
                      <a:srgbClr val="2B2233"/>
                    </a:solidFill>
                    <a:latin typeface="Arial"/>
                  </a:defRPr>
                </a:pPr>
              </a:p>
            </c:txPr>
            <c:showLegendKey val="0"/>
            <c:showVal val="1"/>
            <c:showCatName val="0"/>
            <c:showSerName val="0"/>
            <c:showPercent val="0"/>
            <c:showBubbleSize val="0"/>
            <c:showLeaderLines val="0"/>
          </c:dLbls>
          <c:dPt>
            <c:idx val="0"/>
            <c:invertIfNegative val="0"/>
            <c:bubble3D val="0"/>
            <c:spPr>
              <a:solidFill>
                <a:srgbClr val="4B1D6B"/>
              </a:solidFill>
              <a:effectLst/>
            </c:spPr>
          </c:dPt>
          <c:dPt>
            <c:idx val="1"/>
            <c:invertIfNegative val="0"/>
            <c:bubble3D val="0"/>
            <c:spPr>
              <a:solidFill>
                <a:srgbClr val="4B1D6B"/>
              </a:solidFill>
              <a:effectLst/>
            </c:spPr>
          </c:dPt>
          <c:dPt>
            <c:idx val="2"/>
            <c:invertIfNegative val="0"/>
            <c:bubble3D val="0"/>
            <c:spPr>
              <a:solidFill>
                <a:srgbClr val="D9C9E6"/>
              </a:solidFill>
              <a:effectLst/>
            </c:spPr>
          </c:dPt>
          <c:cat>
            <c:multiLvlStrRef>
              <c:f>Sheet1!$A$2:$A$4</c:f>
              <c:multiLvlStrCache>
                <c:ptCount val="3"/>
                <c:lvl>
                  <c:pt idx="0">
                    <c:v>2021</c:v>
                  </c:pt>
                  <c:pt idx="1">
                    <c:v>2022</c:v>
                  </c:pt>
                  <c:pt idx="2">
                    <c:v>2023 (to 15 Mar)</c:v>
                  </c:pt>
                </c:lvl>
              </c:multiLvlStrCache>
            </c:multiLvlStrRef>
          </c:cat>
          <c:val>
            <c:numRef>
              <c:f>Sheet1!$B$2:$B$4</c:f>
              <c:numCache>
                <c:formatCode>General</c:formatCode>
                <c:ptCount val="3"/>
                <c:pt idx="0">
                  <c:v>11.69</c:v>
                </c:pt>
                <c:pt idx="1">
                  <c:v>11.57</c:v>
                </c:pt>
                <c:pt idx="2">
                  <c:v>2.4</c:v>
                </c:pt>
              </c:numCache>
            </c:numRef>
          </c:val>
        </c:ser>
        <c:dLbls>
          <c:numFmt formatCode="&quot;₹&quot;0.00&quot;M&quot;" sourceLinked="0"/>
          <c:txPr>
            <a:bodyPr/>
            <a:lstStyle/>
            <a:p>
              <a:pPr>
                <a:defRPr b="0" i="0" strike="noStrike" sz="1300" u="none">
                  <a:solidFill>
                    <a:srgbClr val="2B22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E6478"/>
                </a:solidFill>
                <a:latin typeface="Calibri"/>
              </a:defRPr>
            </a:pPr>
            <a:endParaRPr lang="en-US"/>
          </a:p>
        </c:txPr>
        <c:crossAx val="2094734552"/>
        <c:crosses val="autoZero"/>
        <c:auto val="1"/>
        <c:lblAlgn val="ctr"/>
        <c:noMultiLvlLbl val="1"/>
      </c:catAx>
      <c:valAx>
        <c:axId val="2094734552"/>
        <c:scaling>
          <c:orientation val="minMax"/>
          <c:max val="1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E64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c:v>
                </c:pt>
              </c:strCache>
            </c:strRef>
          </c:tx>
          <c:spPr>
            <a:solidFill>
              <a:srgbClr val="4B1D6B"/>
            </a:solidFill>
            <a:ln w="38100" cap="flat">
              <a:solidFill>
                <a:srgbClr val="4B1D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B1D6B"/>
              </a:solidFill>
              <a:ln w="9525" cap="flat">
                <a:solidFill>
                  <a:srgbClr val="4B1D6B"/>
                </a:solidFill>
                <a:prstDash val="solid"/>
                <a:round/>
              </a:ln>
              <a:effectLst/>
            </c:spPr>
          </c:marker>
          <c:cat>
            <c:multiLvlStrRef>
              <c:f>Sheet1!$A$2:$A$28</c:f>
              <c:multiLvlStrCache>
                <c:ptCount val="27"/>
                <c:lvl>
                  <c:pt idx="0">
                    <c:v>Jan 21</c:v>
                  </c:pt>
                  <c:pt idx="1">
                    <c:v>Feb 21</c:v>
                  </c:pt>
                  <c:pt idx="2">
                    <c:v>Mar 21</c:v>
                  </c:pt>
                  <c:pt idx="3">
                    <c:v>Apr 21</c:v>
                  </c:pt>
                  <c:pt idx="4">
                    <c:v>May 21</c:v>
                  </c:pt>
                  <c:pt idx="5">
                    <c:v>Jun 21</c:v>
                  </c:pt>
                  <c:pt idx="6">
                    <c:v>Jul 21</c:v>
                  </c:pt>
                  <c:pt idx="7">
                    <c:v>Aug 21</c:v>
                  </c:pt>
                  <c:pt idx="8">
                    <c:v>Sep 21</c:v>
                  </c:pt>
                  <c:pt idx="9">
                    <c:v>Oct 21</c:v>
                  </c:pt>
                  <c:pt idx="10">
                    <c:v>Nov 21</c:v>
                  </c:pt>
                  <c:pt idx="11">
                    <c:v>Dec 21</c:v>
                  </c:pt>
                  <c:pt idx="12">
                    <c:v>Jan 22</c:v>
                  </c:pt>
                  <c:pt idx="13">
                    <c:v>Feb 22</c:v>
                  </c:pt>
                  <c:pt idx="14">
                    <c:v>Mar 22</c:v>
                  </c:pt>
                  <c:pt idx="15">
                    <c:v>Apr 22</c:v>
                  </c:pt>
                  <c:pt idx="16">
                    <c:v>May 22</c:v>
                  </c:pt>
                  <c:pt idx="17">
                    <c:v>Jun 22</c:v>
                  </c:pt>
                  <c:pt idx="18">
                    <c:v>Jul 22</c:v>
                  </c:pt>
                  <c:pt idx="19">
                    <c:v>Aug 22</c:v>
                  </c:pt>
                  <c:pt idx="20">
                    <c:v>Sep 22</c:v>
                  </c:pt>
                  <c:pt idx="21">
                    <c:v>Oct 22</c:v>
                  </c:pt>
                  <c:pt idx="22">
                    <c:v>Nov 22</c:v>
                  </c:pt>
                  <c:pt idx="23">
                    <c:v>Dec 22</c:v>
                  </c:pt>
                  <c:pt idx="24">
                    <c:v>Jan 23</c:v>
                  </c:pt>
                  <c:pt idx="25">
                    <c:v>Feb 23</c:v>
                  </c:pt>
                  <c:pt idx="26">
                    <c:v>Mar 23</c:v>
                  </c:pt>
                </c:lvl>
              </c:multiLvlStrCache>
            </c:multiLvlStrRef>
          </c:cat>
          <c:val>
            <c:numRef>
              <c:f>Sheet1!$B$2:$B$28</c:f>
              <c:numCache>
                <c:formatCode>General</c:formatCode>
                <c:ptCount val="27"/>
                <c:pt idx="0">
                  <c:v>1.025</c:v>
                </c:pt>
                <c:pt idx="1">
                  <c:v>0.99</c:v>
                </c:pt>
                <c:pt idx="2">
                  <c:v>0.917</c:v>
                </c:pt>
                <c:pt idx="3">
                  <c:v>0.954</c:v>
                </c:pt>
                <c:pt idx="4">
                  <c:v>1.011</c:v>
                </c:pt>
                <c:pt idx="5">
                  <c:v>1.05</c:v>
                </c:pt>
                <c:pt idx="6">
                  <c:v>0.893</c:v>
                </c:pt>
                <c:pt idx="7">
                  <c:v>0.923</c:v>
                </c:pt>
                <c:pt idx="8">
                  <c:v>0.993</c:v>
                </c:pt>
                <c:pt idx="9">
                  <c:v>0.917</c:v>
                </c:pt>
                <c:pt idx="10">
                  <c:v>1.019</c:v>
                </c:pt>
                <c:pt idx="11">
                  <c:v>0.999</c:v>
                </c:pt>
                <c:pt idx="12">
                  <c:v>0.945</c:v>
                </c:pt>
                <c:pt idx="13">
                  <c:v>0.913</c:v>
                </c:pt>
                <c:pt idx="14">
                  <c:v>0.984</c:v>
                </c:pt>
                <c:pt idx="15">
                  <c:v>0.985</c:v>
                </c:pt>
                <c:pt idx="16">
                  <c:v>0.866</c:v>
                </c:pt>
                <c:pt idx="17">
                  <c:v>1.017</c:v>
                </c:pt>
                <c:pt idx="18">
                  <c:v>0.938</c:v>
                </c:pt>
                <c:pt idx="19">
                  <c:v>0.888</c:v>
                </c:pt>
                <c:pt idx="20">
                  <c:v>0.96</c:v>
                </c:pt>
                <c:pt idx="21">
                  <c:v>0.982</c:v>
                </c:pt>
                <c:pt idx="22">
                  <c:v>1.035</c:v>
                </c:pt>
                <c:pt idx="23">
                  <c:v>1.053</c:v>
                </c:pt>
                <c:pt idx="24">
                  <c:v>0.9</c:v>
                </c:pt>
                <c:pt idx="25">
                  <c:v>0.977</c:v>
                </c:pt>
                <c:pt idx="26">
                  <c:v>0.528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1000" b="0" i="0" u="none" strike="noStrike">
                <a:solidFill>
                  <a:srgbClr val="6E6478"/>
                </a:solidFill>
                <a:latin typeface="Calibri"/>
              </a:defRPr>
            </a:pPr>
            <a:endParaRPr lang="en-US"/>
          </a:p>
        </c:txPr>
        <c:crossAx val="2094734552"/>
        <c:crosses val="autoZero"/>
        <c:auto val="1"/>
        <c:lblAlgn val="ctr"/>
        <c:noMultiLvlLbl val="1"/>
      </c:catAx>
      <c:valAx>
        <c:axId val="2094734552"/>
        <c:scaling>
          <c:orientation val="minMax"/>
          <c:max val="1.4"/>
          <c:min val="0"/>
        </c:scaling>
        <c:delete val="0"/>
        <c:axPos val="l"/>
        <c:majorGridlines>
          <c:spPr>
            <a:ln w="6350" cap="flat">
              <a:solidFill>
                <a:srgbClr val="E6DFEC"/>
              </a:solidFill>
              <a:prstDash val="solid"/>
              <a:round/>
            </a:ln>
          </c:spPr>
        </c:majorGridlines>
        <c:title>
          <c:tx>
            <c:rich>
              <a:bodyPr/>
              <a:lstStyle/>
              <a:p>
                <a:pPr>
                  <a:defRPr sz="1100" b="0" i="0" u="none" strike="noStrike">
                    <a:solidFill>
                      <a:srgbClr val="6E6478"/>
                    </a:solidFill>
                    <a:latin typeface="Arial"/>
                  </a:defRPr>
                </a:pPr>
                <a:r>
                  <a:rPr sz="1100" b="0" i="0" u="none" strike="noStrike">
                    <a:solidFill>
                      <a:srgbClr val="6E6478"/>
                    </a:solidFill>
                    <a:latin typeface="Arial"/>
                  </a:rPr>
                  <a:t>₹ millions</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6478"/>
                </a:solidFill>
                <a:latin typeface="Calibri"/>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c:v>
                </c:pt>
              </c:strCache>
            </c:strRef>
          </c:tx>
          <c:spPr>
            <a:solidFill>
              <a:srgbClr val="4B1D6B"/>
            </a:solidFill>
            <a:effectLst/>
          </c:spPr>
          <c:invertIfNegative val="0"/>
          <c:dLbls>
            <c:numFmt formatCode="&quot;₹&quot;0&quot;K&quot;" sourceLinked="0"/>
            <c:txPr>
              <a:bodyPr/>
              <a:lstStyle/>
              <a:p>
                <a:pPr>
                  <a:defRPr b="0" i="0" strike="noStrike" sz="1200" u="none">
                    <a:solidFill>
                      <a:srgbClr val="2B2233"/>
                    </a:solidFill>
                    <a:latin typeface="Arial"/>
                  </a:defRPr>
                </a:pPr>
              </a:p>
            </c:txPr>
            <c:showLegendKey val="0"/>
            <c:showVal val="1"/>
            <c:showCatName val="0"/>
            <c:showSerName val="0"/>
            <c:showPercent val="0"/>
            <c:showBubbleSize val="0"/>
            <c:showLeaderLines val="0"/>
          </c:dLbls>
          <c:cat>
            <c:multiLvlStrRef>
              <c:f>Sheet1!$A$2:$A$11</c:f>
              <c:multiLvlStrCache>
                <c:ptCount val="10"/>
                <c:lvl>
                  <c:pt idx="0">
                    <c:v>Product 63</c:v>
                  </c:pt>
                  <c:pt idx="1">
                    <c:v>Product 28</c:v>
                  </c:pt>
                  <c:pt idx="2">
                    <c:v>Product 47</c:v>
                  </c:pt>
                  <c:pt idx="3">
                    <c:v>Product 29</c:v>
                  </c:pt>
                  <c:pt idx="4">
                    <c:v>Product 84</c:v>
                  </c:pt>
                  <c:pt idx="5">
                    <c:v>Product 59</c:v>
                  </c:pt>
                  <c:pt idx="6">
                    <c:v>Product 56</c:v>
                  </c:pt>
                  <c:pt idx="7">
                    <c:v>Product 66</c:v>
                  </c:pt>
                  <c:pt idx="8">
                    <c:v>Product 33</c:v>
                  </c:pt>
                  <c:pt idx="9">
                    <c:v>Product 81</c:v>
                  </c:pt>
                </c:lvl>
              </c:multiLvlStrCache>
            </c:multiLvlStrRef>
          </c:cat>
          <c:val>
            <c:numRef>
              <c:f>Sheet1!$B$2:$B$11</c:f>
              <c:numCache>
                <c:formatCode>General</c:formatCode>
                <c:ptCount val="10"/>
                <c:pt idx="0">
                  <c:v>628</c:v>
                </c:pt>
                <c:pt idx="1">
                  <c:v>604</c:v>
                </c:pt>
                <c:pt idx="2">
                  <c:v>557</c:v>
                </c:pt>
                <c:pt idx="3">
                  <c:v>534</c:v>
                </c:pt>
                <c:pt idx="4">
                  <c:v>529</c:v>
                </c:pt>
                <c:pt idx="5">
                  <c:v>524</c:v>
                </c:pt>
                <c:pt idx="6">
                  <c:v>484</c:v>
                </c:pt>
                <c:pt idx="7">
                  <c:v>474</c:v>
                </c:pt>
                <c:pt idx="8">
                  <c:v>468</c:v>
                </c:pt>
                <c:pt idx="9">
                  <c:v>466</c:v>
                </c:pt>
              </c:numCache>
            </c:numRef>
          </c:val>
        </c:ser>
        <c:dLbls>
          <c:numFmt formatCode="&quot;₹&quot;0&quot;K&quot;" sourceLinked="0"/>
          <c:txPr>
            <a:bodyPr/>
            <a:lstStyle/>
            <a:p>
              <a:pPr>
                <a:defRPr b="0" i="0" strike="noStrike" sz="1200" u="none">
                  <a:solidFill>
                    <a:srgbClr val="2B22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E6478"/>
                </a:solidFill>
                <a:latin typeface="Calibri"/>
              </a:defRPr>
            </a:pPr>
            <a:endParaRPr lang="en-US"/>
          </a:p>
        </c:txPr>
        <c:crossAx val="2094734552"/>
        <c:crosses val="autoZero"/>
        <c:auto val="1"/>
        <c:lblAlgn val="ctr"/>
        <c:noMultiLvlLbl val="1"/>
      </c:catAx>
      <c:valAx>
        <c:axId val="2094734552"/>
        <c:scaling>
          <c:orientation val="minMax"/>
          <c:max val="7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4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c:v>
                </c:pt>
              </c:strCache>
            </c:strRef>
          </c:tx>
          <c:spPr>
            <a:solidFill>
              <a:srgbClr val="4B1D6B"/>
            </a:solidFill>
            <a:effectLst/>
          </c:spPr>
          <c:invertIfNegative val="0"/>
          <c:dLbls>
            <c:numFmt formatCode="&quot;₹&quot;0.0&quot;K&quot;" sourceLinked="0"/>
            <c:txPr>
              <a:bodyPr/>
              <a:lstStyle/>
              <a:p>
                <a:pPr>
                  <a:defRPr b="0" i="0" strike="noStrike" sz="1200" u="none">
                    <a:solidFill>
                      <a:srgbClr val="2B2233"/>
                    </a:solidFill>
                    <a:latin typeface="Arial"/>
                  </a:defRPr>
                </a:pPr>
              </a:p>
            </c:txPr>
            <c:showLegendKey val="0"/>
            <c:showVal val="1"/>
            <c:showCatName val="0"/>
            <c:showSerName val="0"/>
            <c:showPercent val="0"/>
            <c:showBubbleSize val="0"/>
            <c:showLeaderLines val="0"/>
          </c:dLbls>
          <c:cat>
            <c:multiLvlStrRef>
              <c:f>Sheet1!$A$2:$A$11</c:f>
              <c:multiLvlStrCache>
                <c:ptCount val="10"/>
                <c:lvl>
                  <c:pt idx="0">
                    <c:v>Mark Morales (C1374)</c:v>
                  </c:pt>
                  <c:pt idx="1">
                    <c:v>Jesse Hill (C1246)</c:v>
                  </c:pt>
                  <c:pt idx="2">
                    <c:v>Craig Reyes (C1712)</c:v>
                  </c:pt>
                  <c:pt idx="3">
                    <c:v>Fred Russell (C1304)</c:v>
                  </c:pt>
                  <c:pt idx="4">
                    <c:v>Jeremy Arnold (C1743)</c:v>
                  </c:pt>
                  <c:pt idx="5">
                    <c:v>Victor Gray (C1040)</c:v>
                  </c:pt>
                  <c:pt idx="6">
                    <c:v>Andrew Adams (C1212)</c:v>
                  </c:pt>
                  <c:pt idx="7">
                    <c:v>Russell Boyd (C1596)</c:v>
                  </c:pt>
                  <c:pt idx="8">
                    <c:v>Jeffrey Sanders (C1364)</c:v>
                  </c:pt>
                  <c:pt idx="9">
                    <c:v>William Medina (C1612)</c:v>
                  </c:pt>
                </c:lvl>
              </c:multiLvlStrCache>
            </c:multiLvlStrRef>
          </c:cat>
          <c:val>
            <c:numRef>
              <c:f>Sheet1!$B$2:$B$11</c:f>
              <c:numCache>
                <c:formatCode>General</c:formatCode>
                <c:ptCount val="10"/>
                <c:pt idx="0">
                  <c:v>69.7</c:v>
                </c:pt>
                <c:pt idx="1">
                  <c:v>67.8</c:v>
                </c:pt>
                <c:pt idx="2">
                  <c:v>66.2</c:v>
                </c:pt>
                <c:pt idx="3">
                  <c:v>65.5</c:v>
                </c:pt>
                <c:pt idx="4">
                  <c:v>65.2</c:v>
                </c:pt>
                <c:pt idx="5">
                  <c:v>65.2</c:v>
                </c:pt>
                <c:pt idx="6">
                  <c:v>64.8</c:v>
                </c:pt>
                <c:pt idx="7">
                  <c:v>64.3</c:v>
                </c:pt>
                <c:pt idx="8">
                  <c:v>63.4</c:v>
                </c:pt>
                <c:pt idx="9">
                  <c:v>62.6</c:v>
                </c:pt>
              </c:numCache>
            </c:numRef>
          </c:val>
        </c:ser>
        <c:dLbls>
          <c:numFmt formatCode="&quot;₹&quot;0.0&quot;K&quot;" sourceLinked="0"/>
          <c:txPr>
            <a:bodyPr/>
            <a:lstStyle/>
            <a:p>
              <a:pPr>
                <a:defRPr b="0" i="0" strike="noStrike" sz="1200" u="none">
                  <a:solidFill>
                    <a:srgbClr val="2B22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E6478"/>
                </a:solidFill>
                <a:latin typeface="Calibri"/>
              </a:defRPr>
            </a:pPr>
            <a:endParaRPr lang="en-US"/>
          </a:p>
        </c:txPr>
        <c:crossAx val="2094734552"/>
        <c:crosses val="autoZero"/>
        <c:auto val="1"/>
        <c:lblAlgn val="ctr"/>
        <c:noMultiLvlLbl val="1"/>
      </c:catAx>
      <c:valAx>
        <c:axId val="2094734552"/>
        <c:scaling>
          <c:orientation val="minMax"/>
          <c:max val="8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4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c:v>
                </c:pt>
              </c:strCache>
            </c:strRef>
          </c:tx>
          <c:spPr>
            <a:solidFill>
              <a:srgbClr val="4B1D6B"/>
            </a:solidFill>
            <a:effectLst/>
          </c:spPr>
          <c:invertIfNegative val="0"/>
          <c:dLbls>
            <c:numFmt formatCode="&quot;₹&quot;0&quot;K&quot;" sourceLinked="0"/>
            <c:txPr>
              <a:bodyPr/>
              <a:lstStyle/>
              <a:p>
                <a:pPr>
                  <a:defRPr b="0" i="0" strike="noStrike" sz="1200" u="none">
                    <a:solidFill>
                      <a:srgbClr val="2B2233"/>
                    </a:solidFill>
                    <a:latin typeface="Arial"/>
                  </a:defRPr>
                </a:pPr>
              </a:p>
            </c:txPr>
            <c:showLegendKey val="0"/>
            <c:showVal val="1"/>
            <c:showCatName val="0"/>
            <c:showSerName val="0"/>
            <c:showPercent val="0"/>
            <c:showBubbleSize val="0"/>
            <c:showLeaderLines val="0"/>
          </c:dLbls>
          <c:cat>
            <c:multiLvlStrRef>
              <c:f>Sheet1!$A$2:$A$11</c:f>
              <c:multiLvlStrCache>
                <c:ptCount val="10"/>
                <c:lvl>
                  <c:pt idx="0">
                    <c:v>Kenneth Bradley</c:v>
                  </c:pt>
                  <c:pt idx="1">
                    <c:v>Ryan Welch</c:v>
                  </c:pt>
                  <c:pt idx="2">
                    <c:v>Bobby Russell</c:v>
                  </c:pt>
                  <c:pt idx="3">
                    <c:v>Brian Davis</c:v>
                  </c:pt>
                  <c:pt idx="4">
                    <c:v>Patrick Ruiz</c:v>
                  </c:pt>
                  <c:pt idx="5">
                    <c:v>Martin Perry</c:v>
                  </c:pt>
                  <c:pt idx="6">
                    <c:v>Kenneth Fields</c:v>
                  </c:pt>
                  <c:pt idx="7">
                    <c:v>Kevin Butler</c:v>
                  </c:pt>
                  <c:pt idx="8">
                    <c:v>Scott Mason</c:v>
                  </c:pt>
                  <c:pt idx="9">
                    <c:v>Ernest Wheeler</c:v>
                  </c:pt>
                </c:lvl>
              </c:multiLvlStrCache>
            </c:multiLvlStrRef>
          </c:cat>
          <c:val>
            <c:numRef>
              <c:f>Sheet1!$B$2:$B$11</c:f>
              <c:numCache>
                <c:formatCode>General</c:formatCode>
                <c:ptCount val="10"/>
                <c:pt idx="0">
                  <c:v>679</c:v>
                </c:pt>
                <c:pt idx="1">
                  <c:v>668</c:v>
                </c:pt>
                <c:pt idx="2">
                  <c:v>653</c:v>
                </c:pt>
                <c:pt idx="3">
                  <c:v>639</c:v>
                </c:pt>
                <c:pt idx="4">
                  <c:v>628</c:v>
                </c:pt>
                <c:pt idx="5">
                  <c:v>626</c:v>
                </c:pt>
                <c:pt idx="6">
                  <c:v>618</c:v>
                </c:pt>
                <c:pt idx="7">
                  <c:v>605</c:v>
                </c:pt>
                <c:pt idx="8">
                  <c:v>604</c:v>
                </c:pt>
                <c:pt idx="9">
                  <c:v>603</c:v>
                </c:pt>
              </c:numCache>
            </c:numRef>
          </c:val>
        </c:ser>
        <c:dLbls>
          <c:numFmt formatCode="&quot;₹&quot;0&quot;K&quot;" sourceLinked="0"/>
          <c:txPr>
            <a:bodyPr/>
            <a:lstStyle/>
            <a:p>
              <a:pPr>
                <a:defRPr b="0" i="0" strike="noStrike" sz="1200" u="none">
                  <a:solidFill>
                    <a:srgbClr val="2B2233"/>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E6478"/>
                </a:solidFill>
                <a:latin typeface="Calibri"/>
              </a:defRPr>
            </a:pPr>
            <a:endParaRPr lang="en-US"/>
          </a:p>
        </c:txPr>
        <c:crossAx val="2094734552"/>
        <c:crosses val="autoZero"/>
        <c:auto val="1"/>
        <c:lblAlgn val="ctr"/>
        <c:noMultiLvlLbl val="1"/>
      </c:catAx>
      <c:valAx>
        <c:axId val="2094734552"/>
        <c:scaling>
          <c:orientation val="minMax"/>
          <c:max val="8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4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Locations</c:v>
                </c:pt>
              </c:strCache>
            </c:strRef>
          </c:tx>
          <c:spPr>
            <a:solidFill>
              <a:srgbClr val="4B1D6B"/>
            </a:solidFill>
            <a:ln>
              <a:noFill/>
            </a:ln>
            <a:effectLst/>
          </c:spPr>
          <c:marker>
            <c:symbol val="circle"/>
            <c:size val="9"/>
            <c:spPr>
              <a:solidFill>
                <a:srgbClr val="4B1D6B"/>
              </a:solidFill>
              <a:ln w="9525" cap="flat">
                <a:solidFill>
                  <a:srgbClr val="4B1D6B"/>
                </a:solidFill>
                <a:prstDash val="solid"/>
                <a:round/>
              </a:ln>
              <a:effectLst/>
            </c:spPr>
          </c:marker>
          <c:xVal>
            <c:numRef>
              <c:f>Sheet1!$A$2:$A$75</c:f>
              <c:numCache>
                <c:formatCode>General</c:formatCode>
                <c:ptCount val="74"/>
                <c:pt idx="0">
                  <c:v>0.351</c:v>
                </c:pt>
                <c:pt idx="1">
                  <c:v>0.111</c:v>
                </c:pt>
                <c:pt idx="2">
                  <c:v>0.374</c:v>
                </c:pt>
                <c:pt idx="3">
                  <c:v>0.121</c:v>
                </c:pt>
                <c:pt idx="4">
                  <c:v>0.105</c:v>
                </c:pt>
                <c:pt idx="5">
                  <c:v>0.113</c:v>
                </c:pt>
                <c:pt idx="6">
                  <c:v>0.266</c:v>
                </c:pt>
                <c:pt idx="7">
                  <c:v>0.104</c:v>
                </c:pt>
                <c:pt idx="8">
                  <c:v>0.129</c:v>
                </c:pt>
                <c:pt idx="9">
                  <c:v>0.164</c:v>
                </c:pt>
                <c:pt idx="10">
                  <c:v>0.113</c:v>
                </c:pt>
                <c:pt idx="11">
                  <c:v>0.107</c:v>
                </c:pt>
                <c:pt idx="12">
                  <c:v>0.114</c:v>
                </c:pt>
                <c:pt idx="13">
                  <c:v>0.128</c:v>
                </c:pt>
                <c:pt idx="14">
                  <c:v>0.104</c:v>
                </c:pt>
                <c:pt idx="15">
                  <c:v>0.117</c:v>
                </c:pt>
                <c:pt idx="16">
                  <c:v>0.167</c:v>
                </c:pt>
                <c:pt idx="17">
                  <c:v>0.151</c:v>
                </c:pt>
                <c:pt idx="18">
                  <c:v>0.113</c:v>
                </c:pt>
                <c:pt idx="19">
                  <c:v>0.207</c:v>
                </c:pt>
                <c:pt idx="20">
                  <c:v>0.232</c:v>
                </c:pt>
                <c:pt idx="21">
                  <c:v>0.52</c:v>
                </c:pt>
                <c:pt idx="22">
                  <c:v>0.141</c:v>
                </c:pt>
                <c:pt idx="23">
                  <c:v>0.175</c:v>
                </c:pt>
                <c:pt idx="24">
                  <c:v>0.201</c:v>
                </c:pt>
                <c:pt idx="25">
                  <c:v>0.158</c:v>
                </c:pt>
                <c:pt idx="26">
                  <c:v>0.202</c:v>
                </c:pt>
                <c:pt idx="27">
                  <c:v>0.112</c:v>
                </c:pt>
                <c:pt idx="28">
                  <c:v>0.257</c:v>
                </c:pt>
                <c:pt idx="29">
                  <c:v>0.1</c:v>
                </c:pt>
                <c:pt idx="30">
                  <c:v>0.161</c:v>
                </c:pt>
                <c:pt idx="31">
                  <c:v>0.474</c:v>
                </c:pt>
                <c:pt idx="32">
                  <c:v>3.972</c:v>
                </c:pt>
                <c:pt idx="33">
                  <c:v>0.211</c:v>
                </c:pt>
                <c:pt idx="34">
                  <c:v>0.204</c:v>
                </c:pt>
                <c:pt idx="35">
                  <c:v>0.11</c:v>
                </c:pt>
                <c:pt idx="36">
                  <c:v>0.107</c:v>
                </c:pt>
                <c:pt idx="37">
                  <c:v>0.419</c:v>
                </c:pt>
                <c:pt idx="38">
                  <c:v>0.176</c:v>
                </c:pt>
                <c:pt idx="39">
                  <c:v>0.171</c:v>
                </c:pt>
                <c:pt idx="40">
                  <c:v>0.141</c:v>
                </c:pt>
                <c:pt idx="41">
                  <c:v>0.207</c:v>
                </c:pt>
                <c:pt idx="42">
                  <c:v>0.158</c:v>
                </c:pt>
                <c:pt idx="43">
                  <c:v>0.142</c:v>
                </c:pt>
                <c:pt idx="44">
                  <c:v>0.153</c:v>
                </c:pt>
                <c:pt idx="45">
                  <c:v>0.175</c:v>
                </c:pt>
                <c:pt idx="46">
                  <c:v>0.103</c:v>
                </c:pt>
                <c:pt idx="47">
                  <c:v>0.11</c:v>
                </c:pt>
                <c:pt idx="48">
                  <c:v>0.322</c:v>
                </c:pt>
                <c:pt idx="49">
                  <c:v>0.13</c:v>
                </c:pt>
                <c:pt idx="50">
                  <c:v>0.491</c:v>
                </c:pt>
                <c:pt idx="51">
                  <c:v>0.157</c:v>
                </c:pt>
                <c:pt idx="52">
                  <c:v>0.216</c:v>
                </c:pt>
                <c:pt idx="53">
                  <c:v>0.11</c:v>
                </c:pt>
                <c:pt idx="54">
                  <c:v>1.395</c:v>
                </c:pt>
                <c:pt idx="55">
                  <c:v>0.865</c:v>
                </c:pt>
                <c:pt idx="56">
                  <c:v>1.027</c:v>
                </c:pt>
                <c:pt idx="57">
                  <c:v>0.104</c:v>
                </c:pt>
                <c:pt idx="58">
                  <c:v>0.335</c:v>
                </c:pt>
                <c:pt idx="59">
                  <c:v>0.126</c:v>
                </c:pt>
                <c:pt idx="60">
                  <c:v>0.182</c:v>
                </c:pt>
                <c:pt idx="61">
                  <c:v>0.105</c:v>
                </c:pt>
                <c:pt idx="62">
                  <c:v>0.175</c:v>
                </c:pt>
                <c:pt idx="63">
                  <c:v>0.127</c:v>
                </c:pt>
                <c:pt idx="64">
                  <c:v>0.306</c:v>
                </c:pt>
                <c:pt idx="65">
                  <c:v>0.152</c:v>
                </c:pt>
                <c:pt idx="66">
                  <c:v>0.112</c:v>
                </c:pt>
                <c:pt idx="67">
                  <c:v>0.129</c:v>
                </c:pt>
                <c:pt idx="68">
                  <c:v>0.148</c:v>
                </c:pt>
                <c:pt idx="69">
                  <c:v>0.121</c:v>
                </c:pt>
                <c:pt idx="70">
                  <c:v>0.122</c:v>
                </c:pt>
                <c:pt idx="71">
                  <c:v>0.13</c:v>
                </c:pt>
                <c:pt idx="72">
                  <c:v>0.101</c:v>
                </c:pt>
                <c:pt idx="73">
                  <c:v>0.108</c:v>
                </c:pt>
              </c:numCache>
            </c:numRef>
          </c:xVal>
          <c:yVal>
            <c:numRef>
              <c:f>Sheet1!$B$2:$B$75</c:f>
              <c:numCache>
                <c:formatCode>General</c:formatCode>
                <c:ptCount val="74"/>
                <c:pt idx="0">
                  <c:v>291.3</c:v>
                </c:pt>
                <c:pt idx="1">
                  <c:v>277.3</c:v>
                </c:pt>
                <c:pt idx="2">
                  <c:v>379</c:v>
                </c:pt>
                <c:pt idx="3">
                  <c:v>304</c:v>
                </c:pt>
                <c:pt idx="4">
                  <c:v>377.7</c:v>
                </c:pt>
                <c:pt idx="5">
                  <c:v>341.5</c:v>
                </c:pt>
                <c:pt idx="6">
                  <c:v>352</c:v>
                </c:pt>
                <c:pt idx="7">
                  <c:v>323.8</c:v>
                </c:pt>
                <c:pt idx="8">
                  <c:v>395.4</c:v>
                </c:pt>
                <c:pt idx="9">
                  <c:v>356.5</c:v>
                </c:pt>
                <c:pt idx="10">
                  <c:v>277.6</c:v>
                </c:pt>
                <c:pt idx="11">
                  <c:v>326.5</c:v>
                </c:pt>
                <c:pt idx="12">
                  <c:v>348.3</c:v>
                </c:pt>
                <c:pt idx="13">
                  <c:v>368.5</c:v>
                </c:pt>
                <c:pt idx="14">
                  <c:v>353.7</c:v>
                </c:pt>
                <c:pt idx="15">
                  <c:v>419.6</c:v>
                </c:pt>
                <c:pt idx="16">
                  <c:v>337.1</c:v>
                </c:pt>
                <c:pt idx="17">
                  <c:v>412.4</c:v>
                </c:pt>
                <c:pt idx="18">
                  <c:v>323</c:v>
                </c:pt>
                <c:pt idx="19">
                  <c:v>410.3</c:v>
                </c:pt>
                <c:pt idx="20">
                  <c:v>372.5</c:v>
                </c:pt>
                <c:pt idx="21">
                  <c:v>298.8</c:v>
                </c:pt>
                <c:pt idx="22">
                  <c:v>326.5</c:v>
                </c:pt>
                <c:pt idx="23">
                  <c:v>297.6</c:v>
                </c:pt>
                <c:pt idx="24">
                  <c:v>349.1</c:v>
                </c:pt>
                <c:pt idx="25">
                  <c:v>388.9</c:v>
                </c:pt>
                <c:pt idx="26">
                  <c:v>393.6</c:v>
                </c:pt>
                <c:pt idx="27">
                  <c:v>325.3</c:v>
                </c:pt>
                <c:pt idx="28">
                  <c:v>357.5</c:v>
                </c:pt>
                <c:pt idx="29">
                  <c:v>362</c:v>
                </c:pt>
                <c:pt idx="30">
                  <c:v>351.7</c:v>
                </c:pt>
                <c:pt idx="31">
                  <c:v>302.1</c:v>
                </c:pt>
                <c:pt idx="32">
                  <c:v>381.5</c:v>
                </c:pt>
                <c:pt idx="33">
                  <c:v>396.4</c:v>
                </c:pt>
                <c:pt idx="34">
                  <c:v>356.8</c:v>
                </c:pt>
                <c:pt idx="35">
                  <c:v>303</c:v>
                </c:pt>
                <c:pt idx="36">
                  <c:v>290</c:v>
                </c:pt>
                <c:pt idx="37">
                  <c:v>399</c:v>
                </c:pt>
                <c:pt idx="38">
                  <c:v>365.2</c:v>
                </c:pt>
                <c:pt idx="39">
                  <c:v>322.2</c:v>
                </c:pt>
                <c:pt idx="40">
                  <c:v>312.6</c:v>
                </c:pt>
                <c:pt idx="41">
                  <c:v>319.2</c:v>
                </c:pt>
                <c:pt idx="42">
                  <c:v>346.6</c:v>
                </c:pt>
                <c:pt idx="43">
                  <c:v>308.8</c:v>
                </c:pt>
                <c:pt idx="44">
                  <c:v>348.7</c:v>
                </c:pt>
                <c:pt idx="45">
                  <c:v>392.8</c:v>
                </c:pt>
                <c:pt idx="46">
                  <c:v>465.6</c:v>
                </c:pt>
                <c:pt idx="47">
                  <c:v>319.2</c:v>
                </c:pt>
                <c:pt idx="48">
                  <c:v>328</c:v>
                </c:pt>
                <c:pt idx="49">
                  <c:v>437</c:v>
                </c:pt>
                <c:pt idx="50">
                  <c:v>341</c:v>
                </c:pt>
                <c:pt idx="51">
                  <c:v>357.8</c:v>
                </c:pt>
                <c:pt idx="52">
                  <c:v>392</c:v>
                </c:pt>
                <c:pt idx="53">
                  <c:v>292.3</c:v>
                </c:pt>
                <c:pt idx="54">
                  <c:v>330.1</c:v>
                </c:pt>
                <c:pt idx="55">
                  <c:v>283.8</c:v>
                </c:pt>
                <c:pt idx="56">
                  <c:v>399.6</c:v>
                </c:pt>
                <c:pt idx="57">
                  <c:v>334</c:v>
                </c:pt>
                <c:pt idx="58">
                  <c:v>342.2</c:v>
                </c:pt>
                <c:pt idx="59">
                  <c:v>300.1</c:v>
                </c:pt>
                <c:pt idx="60">
                  <c:v>351.7</c:v>
                </c:pt>
                <c:pt idx="61">
                  <c:v>348.8</c:v>
                </c:pt>
                <c:pt idx="62">
                  <c:v>309.5</c:v>
                </c:pt>
                <c:pt idx="63">
                  <c:v>318.5</c:v>
                </c:pt>
                <c:pt idx="64">
                  <c:v>342.6</c:v>
                </c:pt>
                <c:pt idx="65">
                  <c:v>290</c:v>
                </c:pt>
                <c:pt idx="66">
                  <c:v>376.3</c:v>
                </c:pt>
                <c:pt idx="67">
                  <c:v>320.6</c:v>
                </c:pt>
                <c:pt idx="68">
                  <c:v>374.2</c:v>
                </c:pt>
                <c:pt idx="69">
                  <c:v>338.2</c:v>
                </c:pt>
                <c:pt idx="70">
                  <c:v>423.4</c:v>
                </c:pt>
                <c:pt idx="71">
                  <c:v>311.7</c:v>
                </c:pt>
                <c:pt idx="72">
                  <c:v>302.7</c:v>
                </c:pt>
                <c:pt idx="73">
                  <c:v>386.4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5"/>
          <c:min val="0"/>
        </c:scaling>
        <c:delete val="0"/>
        <c:axPos val="b"/>
        <c:title>
          <c:tx>
            <c:rich>
              <a:bodyPr/>
              <a:lstStyle/>
              <a:p>
                <a:pPr>
                  <a:defRPr sz="1200" b="0" i="0" u="none" strike="noStrike">
                    <a:solidFill>
                      <a:srgbClr val="6E6478"/>
                    </a:solidFill>
                    <a:latin typeface="Arial"/>
                  </a:defRPr>
                </a:pPr>
                <a:r>
                  <a:rPr sz="1200" b="0" i="0" u="none" strike="noStrike">
                    <a:solidFill>
                      <a:srgbClr val="6E6478"/>
                    </a:solidFill>
                    <a:latin typeface="Arial"/>
                  </a:rPr>
                  <a:t>Population (millions)</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6E6478"/>
                </a:solidFill>
                <a:latin typeface="Calibri"/>
              </a:defRPr>
            </a:pPr>
            <a:endParaRPr lang="en-US"/>
          </a:p>
        </c:txPr>
        <c:crossAx val="2094734552"/>
        <c:crosses val="autoZero"/>
        <c:auto val="1"/>
        <c:lblAlgn val="ctr"/>
        <c:noMultiLvlLbl val="1"/>
      </c:valAx>
      <c:valAx>
        <c:axId val="2094734552"/>
        <c:scaling>
          <c:orientation val="minMax"/>
          <c:max val="500"/>
          <c:min val="0"/>
        </c:scaling>
        <c:delete val="0"/>
        <c:axPos val="l"/>
        <c:majorGridlines>
          <c:spPr>
            <a:ln w="6350" cap="flat">
              <a:solidFill>
                <a:srgbClr val="E6DFEC"/>
              </a:solidFill>
              <a:prstDash val="solid"/>
              <a:round/>
            </a:ln>
          </c:spPr>
        </c:majorGridlines>
        <c:title>
          <c:tx>
            <c:rich>
              <a:bodyPr/>
              <a:lstStyle/>
              <a:p>
                <a:pPr>
                  <a:defRPr sz="1200" b="0" i="0" u="none" strike="noStrike">
                    <a:solidFill>
                      <a:srgbClr val="6E6478"/>
                    </a:solidFill>
                    <a:latin typeface="Arial"/>
                  </a:defRPr>
                </a:pPr>
                <a:r>
                  <a:rPr sz="1200" b="0" i="0" u="none" strike="noStrike">
                    <a:solidFill>
                      <a:srgbClr val="6E6478"/>
                    </a:solidFill>
                    <a:latin typeface="Arial"/>
                  </a:rPr>
                  <a:t>Sales (₹ thousands)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6E6478"/>
                </a:solidFill>
                <a:latin typeface="Calibri"/>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Actual</c:v>
                </c:pt>
              </c:strCache>
            </c:strRef>
          </c:tx>
          <c:spPr>
            <a:solidFill>
              <a:srgbClr val="4B1D6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2.87</c:v>
                </c:pt>
                <c:pt idx="1">
                  <c:v>2.88</c:v>
                </c:pt>
                <c:pt idx="2">
                  <c:v>2.43</c:v>
                </c:pt>
                <c:pt idx="3">
                  <c:v>1.94</c:v>
                </c:pt>
                <c:pt idx="4">
                  <c:v>1.88</c:v>
                </c:pt>
                <c:pt idx="5">
                  <c:v>2.07</c:v>
                </c:pt>
                <c:pt idx="6">
                  <c:v>1.83</c:v>
                </c:pt>
                <c:pt idx="7">
                  <c:v>1.81</c:v>
                </c:pt>
                <c:pt idx="8">
                  <c:v>1.95</c:v>
                </c:pt>
                <c:pt idx="9">
                  <c:v>1.9</c:v>
                </c:pt>
                <c:pt idx="10">
                  <c:v>2.05</c:v>
                </c:pt>
                <c:pt idx="11">
                  <c:v>2.05</c:v>
                </c:pt>
              </c:numCache>
            </c:numRef>
          </c:val>
        </c:ser>
        <c:ser>
          <c:idx val="1"/>
          <c:order val="1"/>
          <c:tx>
            <c:strRef>
              <c:f>Sheet1!$C$1</c:f>
              <c:strCache>
                <c:ptCount val="1"/>
                <c:pt idx="0">
                  <c:v>Budget</c:v>
                </c:pt>
              </c:strCache>
            </c:strRef>
          </c:tx>
          <c:spPr>
            <a:solidFill>
              <a:srgbClr val="F2A9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0.39</c:v>
                </c:pt>
                <c:pt idx="1">
                  <c:v>0.67</c:v>
                </c:pt>
                <c:pt idx="2">
                  <c:v>0.67</c:v>
                </c:pt>
                <c:pt idx="3">
                  <c:v>0.64</c:v>
                </c:pt>
                <c:pt idx="4">
                  <c:v>0.83</c:v>
                </c:pt>
                <c:pt idx="5">
                  <c:v>0.9</c:v>
                </c:pt>
                <c:pt idx="6">
                  <c:v>0.77</c:v>
                </c:pt>
                <c:pt idx="7">
                  <c:v>0.58</c:v>
                </c:pt>
                <c:pt idx="8">
                  <c:v>0.45</c:v>
                </c:pt>
                <c:pt idx="9">
                  <c:v>0.51</c:v>
                </c:pt>
                <c:pt idx="10">
                  <c:v>0.32</c:v>
                </c:pt>
                <c:pt idx="11">
                  <c:v>0.26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6478"/>
                </a:solidFill>
                <a:latin typeface="Calibri"/>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6350" cap="flat">
              <a:solidFill>
                <a:srgbClr val="E6DF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6478"/>
                </a:solidFill>
                <a:latin typeface="Calibri"/>
              </a:defRPr>
            </a:pPr>
            <a:endParaRPr lang="en-US"/>
          </a:p>
        </c:txPr>
        <c:crossAx val="2094734554"/>
        <c:crosses val="autoZero"/>
        <c:crossBetween val="between"/>
        <c:majorUnit val="0.5"/>
      </c:valAx>
      <c:spPr>
        <a:noFill/>
        <a:ln>
          <a:noFill/>
        </a:ln>
        <a:effectLst/>
      </c:spPr>
    </c:plotArea>
    <c:legend>
      <c:legendPos val="b"/>
      <c:overlay val="0"/>
      <c:txPr>
        <a:bodyPr/>
        <a:lstStyle/>
        <a:p>
          <a:pPr>
            <a:defRPr sz="1200">
              <a:solidFill>
                <a:srgbClr val="2B22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central question from the brief. In one breath: revenue of 25.66 million, a steady 32.5% margin, and sales at 3.7 times budget. The rest of the talk explains how the data was prepared, how the model works, and what management should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numbers are the executive dashboard. Point out the two that surprise people: growth is slightly negative, and budget achievement is almost four times target, which says more about the budget than about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two data-quality findings matter later: the budget has 23 rows with no matching location, and customer names repeat across different IDs, so every customer answer uses Customer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Fact_Sales sits in the middle. Five dimensions filter it. The two budget tables hang off Location and Date, so budget and actual share the same filters. Keeping every relationship single-direction avoids ambiguous filter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difference between a calculated column and a measure in one sentence, then show that the budget measure adds up each month in scope so it works at month, year or total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was 11.69 million in 2021 and 11.57 million in 2022. The 2023 bar is paler because it covers only 1 January to 15 March, so it cannot be compared with a full year. Like for like, early 2023 is 3.7% above early 2022 but 2.7% below early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is remarkably flat. Best quarter is Q4, but only 7% above the weakest. The anomaly view in Power BI flags only isolated days, such as 20 June 2021 at 83.7 thousand against a daily average of 31.9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10 products are only 20.5% of revenue, and 56 of 101 products make up 80%. So the story is margin, not concentration: overall margin is 32.5% but products range from 15% to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customer ordered between 5 and 27 times, so there is no dependence on a few accounts. One data warning: customer names repeat across IDs. Grouping by name shows Jesse Hill at 171 thousand, but he is five different customer IDs, and the true largest customer is 69.7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Ryan Welch handles the most orders (273). The spread is narrow, so the lever is coaching and incentives rather than replacing anyone. Pair the people whose sales fell most with those who grew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location sells between 277 and 466 thousand regardless of size. The eight large cities are Los Angeles, San Diego, San Francisco, San Jose, Fresno, Long Beach, Sacramento and Anaheim. All data is in California, so geography is analysed by county and location, not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budget is a single annual figure per location, spread by a seasonal curve that peaks in May to July. Real sales are flat, so the biggest gaps fall in January, February and December. The 23 budget rows with no matching location were excluded so the comparison is like for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one of each live: change the Year slicer, drill from Year to Month, right-click a product to drill through, hover for a tooltip, and click a bar to cross-filter.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same five findings as the Business Insights report, so the document and the presentation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problem has a matching action. If time is short, cover the budget rebuild and the big-city pilot first: they change how the business is steered and where it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actions, then invite questions. Have the dashboard open to answer any drill-down request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0F45"/>
        </a:solidFill>
      </p:bgPr>
    </p:bg>
    <p:spTree>
      <p:nvGrpSpPr>
        <p:cNvPr id="1" name=""/>
        <p:cNvGrpSpPr/>
        <p:nvPr/>
      </p:nvGrpSpPr>
      <p:grpSpPr>
        <a:xfrm>
          <a:off x="0" y="0"/>
          <a:ext cx="0" cy="0"/>
          <a:chOff x="0" y="0"/>
          <a:chExt cx="0" cy="0"/>
        </a:xfrm>
      </p:grpSpPr>
      <p:sp>
        <p:nvSpPr>
          <p:cNvPr id="2" name="Text 0"/>
          <p:cNvSpPr txBox="1"/>
          <p:nvPr/>
        </p:nvSpPr>
        <p:spPr>
          <a:xfrm>
            <a:off x="731520" y="1463040"/>
            <a:ext cx="6309360" cy="21945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Sales Performance, Profitability &amp; Business Intelligence</a:t>
            </a:r>
            <a:endParaRPr lang="en-US" sz="4000" dirty="0"/>
          </a:p>
        </p:txBody>
      </p:sp>
      <p:sp>
        <p:nvSpPr>
          <p:cNvPr id="3" name="Text 1"/>
          <p:cNvSpPr txBox="1"/>
          <p:nvPr/>
        </p:nvSpPr>
        <p:spPr>
          <a:xfrm>
            <a:off x="731520" y="3931920"/>
            <a:ext cx="6309360" cy="457200"/>
          </a:xfrm>
          <a:prstGeom prst="rect">
            <a:avLst/>
          </a:prstGeom>
          <a:noFill/>
          <a:ln/>
        </p:spPr>
        <p:txBody>
          <a:bodyPr wrap="square" lIns="0" tIns="0" rIns="0" bIns="0" rtlCol="0" anchor="t"/>
          <a:lstStyle/>
          <a:p>
            <a:pPr indent="0" marL="0">
              <a:buNone/>
            </a:pPr>
            <a:r>
              <a:rPr lang="en-US" sz="1800" dirty="0">
                <a:solidFill>
                  <a:srgbClr val="D9C9E6"/>
                </a:solidFill>
                <a:latin typeface="Calibri" pitchFamily="34" charset="0"/>
                <a:ea typeface="Calibri" pitchFamily="34" charset="-122"/>
                <a:cs typeface="Calibri" pitchFamily="34" charset="-120"/>
              </a:rPr>
              <a:t>Power BI project  |  1 Jan 2021 to 15 Mar 2023</a:t>
            </a:r>
            <a:endParaRPr lang="en-US" sz="1800" dirty="0"/>
          </a:p>
        </p:txBody>
      </p:sp>
      <p:sp>
        <p:nvSpPr>
          <p:cNvPr id="4" name="Text 2"/>
          <p:cNvSpPr txBox="1"/>
          <p:nvPr/>
        </p:nvSpPr>
        <p:spPr>
          <a:xfrm>
            <a:off x="731520" y="4572000"/>
            <a:ext cx="6035040" cy="914400"/>
          </a:xfrm>
          <a:prstGeom prst="rect">
            <a:avLst/>
          </a:prstGeom>
          <a:noFill/>
          <a:ln/>
        </p:spPr>
        <p:txBody>
          <a:bodyPr wrap="square" lIns="0" tIns="0" rIns="0" bIns="0" rtlCol="0" anchor="t"/>
          <a:lstStyle/>
          <a:p>
            <a:pPr indent="0" marL="0">
              <a:buNone/>
            </a:pPr>
            <a:r>
              <a:rPr lang="en-US" sz="1600" i="1" dirty="0">
                <a:solidFill>
                  <a:srgbClr val="D9C9E6"/>
                </a:solidFill>
                <a:latin typeface="Calibri" pitchFamily="34" charset="0"/>
                <a:ea typeface="Calibri" pitchFamily="34" charset="-122"/>
                <a:cs typeface="Calibri" pitchFamily="34" charset="-120"/>
              </a:rPr>
              <a:t>How is the business performing, where do we make money, and where should management focus?</a:t>
            </a:r>
            <a:endParaRPr lang="en-US" sz="1600" dirty="0"/>
          </a:p>
        </p:txBody>
      </p:sp>
      <p:sp>
        <p:nvSpPr>
          <p:cNvPr id="5" name="Shape 3"/>
          <p:cNvSpPr/>
          <p:nvPr/>
        </p:nvSpPr>
        <p:spPr>
          <a:xfrm>
            <a:off x="7863840" y="1188720"/>
            <a:ext cx="3657600" cy="1371600"/>
          </a:xfrm>
          <a:prstGeom prst="roundRect">
            <a:avLst>
              <a:gd name="adj" fmla="val 6667"/>
            </a:avLst>
          </a:prstGeom>
          <a:solidFill>
            <a:srgbClr val="4B1D6B"/>
          </a:solidFill>
          <a:ln w="12700">
            <a:solidFill>
              <a:srgbClr val="4B1D6B"/>
            </a:solidFill>
            <a:prstDash val="solid"/>
          </a:ln>
        </p:spPr>
      </p:sp>
      <p:sp>
        <p:nvSpPr>
          <p:cNvPr id="6" name="Text 4"/>
          <p:cNvSpPr txBox="1"/>
          <p:nvPr/>
        </p:nvSpPr>
        <p:spPr>
          <a:xfrm>
            <a:off x="8138160" y="1325880"/>
            <a:ext cx="3108960" cy="777240"/>
          </a:xfrm>
          <a:prstGeom prst="rect">
            <a:avLst/>
          </a:prstGeom>
          <a:noFill/>
          <a:ln/>
        </p:spPr>
        <p:txBody>
          <a:bodyPr wrap="square" lIns="0" tIns="0" rIns="0" bIns="0" rtlCol="0" anchor="ctr"/>
          <a:lstStyle/>
          <a:p>
            <a:pPr indent="0" marL="0">
              <a:buNone/>
            </a:pPr>
            <a:r>
              <a:rPr lang="en-US" sz="3800" b="1" dirty="0">
                <a:solidFill>
                  <a:srgbClr val="F2A900"/>
                </a:solidFill>
                <a:latin typeface="Cambria" pitchFamily="34" charset="0"/>
                <a:ea typeface="Cambria" pitchFamily="34" charset="-122"/>
                <a:cs typeface="Cambria" pitchFamily="34" charset="-120"/>
              </a:rPr>
              <a:t>₹25.66M</a:t>
            </a:r>
            <a:endParaRPr lang="en-US" sz="3800" dirty="0"/>
          </a:p>
        </p:txBody>
      </p:sp>
      <p:sp>
        <p:nvSpPr>
          <p:cNvPr id="7" name="Text 5"/>
          <p:cNvSpPr txBox="1"/>
          <p:nvPr/>
        </p:nvSpPr>
        <p:spPr>
          <a:xfrm>
            <a:off x="8138160" y="2057400"/>
            <a:ext cx="3108960" cy="365760"/>
          </a:xfrm>
          <a:prstGeom prst="rect">
            <a:avLst/>
          </a:prstGeom>
          <a:noFill/>
          <a:ln/>
        </p:spPr>
        <p:txBody>
          <a:bodyPr wrap="square" lIns="0" tIns="0" rIns="0" bIns="0" rtlCol="0" anchor="t"/>
          <a:lstStyle/>
          <a:p>
            <a:pPr indent="0" marL="0">
              <a:buNone/>
            </a:pPr>
            <a:r>
              <a:rPr lang="en-US" sz="1500" dirty="0">
                <a:solidFill>
                  <a:srgbClr val="D9C9E6"/>
                </a:solidFill>
                <a:latin typeface="Calibri" pitchFamily="34" charset="0"/>
                <a:ea typeface="Calibri" pitchFamily="34" charset="-122"/>
                <a:cs typeface="Calibri" pitchFamily="34" charset="-120"/>
              </a:rPr>
              <a:t>revenue</a:t>
            </a:r>
            <a:endParaRPr lang="en-US" sz="1500" dirty="0"/>
          </a:p>
        </p:txBody>
      </p:sp>
      <p:sp>
        <p:nvSpPr>
          <p:cNvPr id="8" name="Shape 6"/>
          <p:cNvSpPr/>
          <p:nvPr/>
        </p:nvSpPr>
        <p:spPr>
          <a:xfrm>
            <a:off x="7863840" y="2788920"/>
            <a:ext cx="3657600" cy="1371600"/>
          </a:xfrm>
          <a:prstGeom prst="roundRect">
            <a:avLst>
              <a:gd name="adj" fmla="val 6667"/>
            </a:avLst>
          </a:prstGeom>
          <a:solidFill>
            <a:srgbClr val="4B1D6B"/>
          </a:solidFill>
          <a:ln w="12700">
            <a:solidFill>
              <a:srgbClr val="4B1D6B"/>
            </a:solidFill>
            <a:prstDash val="solid"/>
          </a:ln>
        </p:spPr>
      </p:sp>
      <p:sp>
        <p:nvSpPr>
          <p:cNvPr id="9" name="Text 7"/>
          <p:cNvSpPr txBox="1"/>
          <p:nvPr/>
        </p:nvSpPr>
        <p:spPr>
          <a:xfrm>
            <a:off x="8138160" y="2926080"/>
            <a:ext cx="3108960" cy="777240"/>
          </a:xfrm>
          <a:prstGeom prst="rect">
            <a:avLst/>
          </a:prstGeom>
          <a:noFill/>
          <a:ln/>
        </p:spPr>
        <p:txBody>
          <a:bodyPr wrap="square" lIns="0" tIns="0" rIns="0" bIns="0" rtlCol="0" anchor="ctr"/>
          <a:lstStyle/>
          <a:p>
            <a:pPr indent="0" marL="0">
              <a:buNone/>
            </a:pPr>
            <a:r>
              <a:rPr lang="en-US" sz="3800" b="1" dirty="0">
                <a:solidFill>
                  <a:srgbClr val="F2A900"/>
                </a:solidFill>
                <a:latin typeface="Cambria" pitchFamily="34" charset="0"/>
                <a:ea typeface="Cambria" pitchFamily="34" charset="-122"/>
                <a:cs typeface="Cambria" pitchFamily="34" charset="-120"/>
              </a:rPr>
              <a:t>32.5%</a:t>
            </a:r>
            <a:endParaRPr lang="en-US" sz="3800" dirty="0"/>
          </a:p>
        </p:txBody>
      </p:sp>
      <p:sp>
        <p:nvSpPr>
          <p:cNvPr id="10" name="Text 8"/>
          <p:cNvSpPr txBox="1"/>
          <p:nvPr/>
        </p:nvSpPr>
        <p:spPr>
          <a:xfrm>
            <a:off x="8138160" y="3657600"/>
            <a:ext cx="3108960" cy="365760"/>
          </a:xfrm>
          <a:prstGeom prst="rect">
            <a:avLst/>
          </a:prstGeom>
          <a:noFill/>
          <a:ln/>
        </p:spPr>
        <p:txBody>
          <a:bodyPr wrap="square" lIns="0" tIns="0" rIns="0" bIns="0" rtlCol="0" anchor="t"/>
          <a:lstStyle/>
          <a:p>
            <a:pPr indent="0" marL="0">
              <a:buNone/>
            </a:pPr>
            <a:r>
              <a:rPr lang="en-US" sz="1500" dirty="0">
                <a:solidFill>
                  <a:srgbClr val="D9C9E6"/>
                </a:solidFill>
                <a:latin typeface="Calibri" pitchFamily="34" charset="0"/>
                <a:ea typeface="Calibri" pitchFamily="34" charset="-122"/>
                <a:cs typeface="Calibri" pitchFamily="34" charset="-120"/>
              </a:rPr>
              <a:t>gross margin</a:t>
            </a:r>
            <a:endParaRPr lang="en-US" sz="1500" dirty="0"/>
          </a:p>
        </p:txBody>
      </p:sp>
      <p:sp>
        <p:nvSpPr>
          <p:cNvPr id="11" name="Shape 9"/>
          <p:cNvSpPr/>
          <p:nvPr/>
        </p:nvSpPr>
        <p:spPr>
          <a:xfrm>
            <a:off x="7863840" y="4389120"/>
            <a:ext cx="3657600" cy="1371600"/>
          </a:xfrm>
          <a:prstGeom prst="roundRect">
            <a:avLst>
              <a:gd name="adj" fmla="val 6667"/>
            </a:avLst>
          </a:prstGeom>
          <a:solidFill>
            <a:srgbClr val="4B1D6B"/>
          </a:solidFill>
          <a:ln w="12700">
            <a:solidFill>
              <a:srgbClr val="4B1D6B"/>
            </a:solidFill>
            <a:prstDash val="solid"/>
          </a:ln>
        </p:spPr>
      </p:sp>
      <p:sp>
        <p:nvSpPr>
          <p:cNvPr id="12" name="Text 10"/>
          <p:cNvSpPr txBox="1"/>
          <p:nvPr/>
        </p:nvSpPr>
        <p:spPr>
          <a:xfrm>
            <a:off x="8138160" y="4526280"/>
            <a:ext cx="3108960" cy="777240"/>
          </a:xfrm>
          <a:prstGeom prst="rect">
            <a:avLst/>
          </a:prstGeom>
          <a:noFill/>
          <a:ln/>
        </p:spPr>
        <p:txBody>
          <a:bodyPr wrap="square" lIns="0" tIns="0" rIns="0" bIns="0" rtlCol="0" anchor="ctr"/>
          <a:lstStyle/>
          <a:p>
            <a:pPr indent="0" marL="0">
              <a:buNone/>
            </a:pPr>
            <a:r>
              <a:rPr lang="en-US" sz="3800" b="1" dirty="0">
                <a:solidFill>
                  <a:srgbClr val="F2A900"/>
                </a:solidFill>
                <a:latin typeface="Cambria" pitchFamily="34" charset="0"/>
                <a:ea typeface="Cambria" pitchFamily="34" charset="-122"/>
                <a:cs typeface="Cambria" pitchFamily="34" charset="-120"/>
              </a:rPr>
              <a:t>366.8%</a:t>
            </a:r>
            <a:endParaRPr lang="en-US" sz="3800" dirty="0"/>
          </a:p>
        </p:txBody>
      </p:sp>
      <p:sp>
        <p:nvSpPr>
          <p:cNvPr id="13" name="Text 11"/>
          <p:cNvSpPr txBox="1"/>
          <p:nvPr/>
        </p:nvSpPr>
        <p:spPr>
          <a:xfrm>
            <a:off x="8138160" y="5257800"/>
            <a:ext cx="3108960" cy="365760"/>
          </a:xfrm>
          <a:prstGeom prst="rect">
            <a:avLst/>
          </a:prstGeom>
          <a:noFill/>
          <a:ln/>
        </p:spPr>
        <p:txBody>
          <a:bodyPr wrap="square" lIns="0" tIns="0" rIns="0" bIns="0" rtlCol="0" anchor="t"/>
          <a:lstStyle/>
          <a:p>
            <a:pPr indent="0" marL="0">
              <a:buNone/>
            </a:pPr>
            <a:r>
              <a:rPr lang="en-US" sz="1500" dirty="0">
                <a:solidFill>
                  <a:srgbClr val="D9C9E6"/>
                </a:solidFill>
                <a:latin typeface="Calibri" pitchFamily="34" charset="0"/>
                <a:ea typeface="Calibri" pitchFamily="34" charset="-122"/>
                <a:cs typeface="Calibri" pitchFamily="34" charset="-120"/>
              </a:rPr>
              <a:t>of budget achieved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The answer in brief</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Profitable, diversified and stable, but flat, with a budget that cannot steer decisions</a:t>
            </a:r>
            <a:endParaRPr lang="en-US" sz="1600" dirty="0"/>
          </a:p>
        </p:txBody>
      </p:sp>
      <p:sp>
        <p:nvSpPr>
          <p:cNvPr id="4" name="Shape 2"/>
          <p:cNvSpPr/>
          <p:nvPr/>
        </p:nvSpPr>
        <p:spPr>
          <a:xfrm>
            <a:off x="548640" y="1691640"/>
            <a:ext cx="3520440" cy="1828800"/>
          </a:xfrm>
          <a:prstGeom prst="roundRect">
            <a:avLst>
              <a:gd name="adj" fmla="val 5000"/>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777240" y="1828800"/>
            <a:ext cx="3063240" cy="768096"/>
          </a:xfrm>
          <a:prstGeom prst="rect">
            <a:avLst/>
          </a:prstGeom>
          <a:noFill/>
          <a:ln/>
        </p:spPr>
        <p:txBody>
          <a:bodyPr wrap="square" lIns="0" tIns="0" rIns="0" bIns="0" rtlCol="0" anchor="ctr"/>
          <a:lstStyle/>
          <a:p>
            <a:pPr indent="0" marL="0">
              <a:buNone/>
            </a:pPr>
            <a:r>
              <a:rPr lang="en-US" sz="3600" b="1" dirty="0">
                <a:solidFill>
                  <a:srgbClr val="4B1D6B"/>
                </a:solidFill>
                <a:latin typeface="Cambria" pitchFamily="34" charset="0"/>
                <a:ea typeface="Cambria" pitchFamily="34" charset="-122"/>
                <a:cs typeface="Cambria" pitchFamily="34" charset="-120"/>
              </a:rPr>
              <a:t>₹25.66M</a:t>
            </a:r>
            <a:endParaRPr lang="en-US" sz="3600" dirty="0"/>
          </a:p>
        </p:txBody>
      </p:sp>
      <p:sp>
        <p:nvSpPr>
          <p:cNvPr id="6" name="Text 4"/>
          <p:cNvSpPr txBox="1"/>
          <p:nvPr/>
        </p:nvSpPr>
        <p:spPr>
          <a:xfrm>
            <a:off x="777240" y="2596896"/>
            <a:ext cx="3063240" cy="438912"/>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Revenue</a:t>
            </a:r>
            <a:endParaRPr lang="en-US" sz="1400" dirty="0"/>
          </a:p>
        </p:txBody>
      </p:sp>
      <p:sp>
        <p:nvSpPr>
          <p:cNvPr id="7" name="Text 5"/>
          <p:cNvSpPr txBox="1"/>
          <p:nvPr/>
        </p:nvSpPr>
        <p:spPr>
          <a:xfrm>
            <a:off x="777240" y="3035808"/>
            <a:ext cx="3063240" cy="512064"/>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10,889 orders, 21,078 units</a:t>
            </a:r>
            <a:endParaRPr lang="en-US" sz="1200" dirty="0"/>
          </a:p>
        </p:txBody>
      </p:sp>
      <p:sp>
        <p:nvSpPr>
          <p:cNvPr id="8" name="Shape 6"/>
          <p:cNvSpPr/>
          <p:nvPr/>
        </p:nvSpPr>
        <p:spPr>
          <a:xfrm>
            <a:off x="4334256" y="1691640"/>
            <a:ext cx="3520440" cy="1828800"/>
          </a:xfrm>
          <a:prstGeom prst="roundRect">
            <a:avLst>
              <a:gd name="adj" fmla="val 5000"/>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4562856" y="1828800"/>
            <a:ext cx="3063240" cy="768096"/>
          </a:xfrm>
          <a:prstGeom prst="rect">
            <a:avLst/>
          </a:prstGeom>
          <a:noFill/>
          <a:ln/>
        </p:spPr>
        <p:txBody>
          <a:bodyPr wrap="square" lIns="0" tIns="0" rIns="0" bIns="0" rtlCol="0" anchor="ctr"/>
          <a:lstStyle/>
          <a:p>
            <a:pPr indent="0" marL="0">
              <a:buNone/>
            </a:pPr>
            <a:r>
              <a:rPr lang="en-US" sz="3600" b="1" dirty="0">
                <a:solidFill>
                  <a:srgbClr val="4B1D6B"/>
                </a:solidFill>
                <a:latin typeface="Cambria" pitchFamily="34" charset="0"/>
                <a:ea typeface="Cambria" pitchFamily="34" charset="-122"/>
                <a:cs typeface="Cambria" pitchFamily="34" charset="-120"/>
              </a:rPr>
              <a:t>₹8.34M</a:t>
            </a:r>
            <a:endParaRPr lang="en-US" sz="3600" dirty="0"/>
          </a:p>
        </p:txBody>
      </p:sp>
      <p:sp>
        <p:nvSpPr>
          <p:cNvPr id="10" name="Text 8"/>
          <p:cNvSpPr txBox="1"/>
          <p:nvPr/>
        </p:nvSpPr>
        <p:spPr>
          <a:xfrm>
            <a:off x="4562856" y="2596896"/>
            <a:ext cx="3063240" cy="438912"/>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Gross profit</a:t>
            </a:r>
            <a:endParaRPr lang="en-US" sz="1400" dirty="0"/>
          </a:p>
        </p:txBody>
      </p:sp>
      <p:sp>
        <p:nvSpPr>
          <p:cNvPr id="11" name="Text 9"/>
          <p:cNvSpPr txBox="1"/>
          <p:nvPr/>
        </p:nvSpPr>
        <p:spPr>
          <a:xfrm>
            <a:off x="4562856" y="3035808"/>
            <a:ext cx="3063240" cy="512064"/>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32.5% margin, steady every year</a:t>
            </a:r>
            <a:endParaRPr lang="en-US" sz="1200" dirty="0"/>
          </a:p>
        </p:txBody>
      </p:sp>
      <p:sp>
        <p:nvSpPr>
          <p:cNvPr id="12" name="Shape 10"/>
          <p:cNvSpPr/>
          <p:nvPr/>
        </p:nvSpPr>
        <p:spPr>
          <a:xfrm>
            <a:off x="8119872" y="1691640"/>
            <a:ext cx="3520440" cy="1828800"/>
          </a:xfrm>
          <a:prstGeom prst="roundRect">
            <a:avLst>
              <a:gd name="adj" fmla="val 5000"/>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8348472" y="1828800"/>
            <a:ext cx="3063240" cy="768096"/>
          </a:xfrm>
          <a:prstGeom prst="rect">
            <a:avLst/>
          </a:prstGeom>
          <a:noFill/>
          <a:ln/>
        </p:spPr>
        <p:txBody>
          <a:bodyPr wrap="square" lIns="0" tIns="0" rIns="0" bIns="0" rtlCol="0" anchor="ctr"/>
          <a:lstStyle/>
          <a:p>
            <a:pPr indent="0" marL="0">
              <a:buNone/>
            </a:pPr>
            <a:r>
              <a:rPr lang="en-US" sz="3600" b="1" dirty="0">
                <a:solidFill>
                  <a:srgbClr val="4B1D6B"/>
                </a:solidFill>
                <a:latin typeface="Cambria" pitchFamily="34" charset="0"/>
                <a:ea typeface="Cambria" pitchFamily="34" charset="-122"/>
                <a:cs typeface="Cambria" pitchFamily="34" charset="-120"/>
              </a:rPr>
              <a:t>₹2,357</a:t>
            </a:r>
            <a:endParaRPr lang="en-US" sz="3600" dirty="0"/>
          </a:p>
        </p:txBody>
      </p:sp>
      <p:sp>
        <p:nvSpPr>
          <p:cNvPr id="14" name="Text 12"/>
          <p:cNvSpPr txBox="1"/>
          <p:nvPr/>
        </p:nvSpPr>
        <p:spPr>
          <a:xfrm>
            <a:off x="8348472" y="2596896"/>
            <a:ext cx="3063240" cy="438912"/>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Average order value</a:t>
            </a:r>
            <a:endParaRPr lang="en-US" sz="1400" dirty="0"/>
          </a:p>
        </p:txBody>
      </p:sp>
      <p:sp>
        <p:nvSpPr>
          <p:cNvPr id="15" name="Text 13"/>
          <p:cNvSpPr txBox="1"/>
          <p:nvPr/>
        </p:nvSpPr>
        <p:spPr>
          <a:xfrm>
            <a:off x="8348472" y="3035808"/>
            <a:ext cx="3063240" cy="512064"/>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₹1,217 average price per unit</a:t>
            </a:r>
            <a:endParaRPr lang="en-US" sz="1200" dirty="0"/>
          </a:p>
        </p:txBody>
      </p:sp>
      <p:sp>
        <p:nvSpPr>
          <p:cNvPr id="16" name="Shape 14"/>
          <p:cNvSpPr/>
          <p:nvPr/>
        </p:nvSpPr>
        <p:spPr>
          <a:xfrm>
            <a:off x="548640" y="3703320"/>
            <a:ext cx="3520440" cy="1828800"/>
          </a:xfrm>
          <a:prstGeom prst="roundRect">
            <a:avLst>
              <a:gd name="adj" fmla="val 5000"/>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777240" y="3840480"/>
            <a:ext cx="3063240" cy="768096"/>
          </a:xfrm>
          <a:prstGeom prst="rect">
            <a:avLst/>
          </a:prstGeom>
          <a:noFill/>
          <a:ln/>
        </p:spPr>
        <p:txBody>
          <a:bodyPr wrap="square" lIns="0" tIns="0" rIns="0" bIns="0" rtlCol="0" anchor="ctr"/>
          <a:lstStyle/>
          <a:p>
            <a:pPr indent="0" marL="0">
              <a:buNone/>
            </a:pPr>
            <a:r>
              <a:rPr lang="en-US" sz="3600" b="1" dirty="0">
                <a:solidFill>
                  <a:srgbClr val="4B1D6B"/>
                </a:solidFill>
                <a:latin typeface="Cambria" pitchFamily="34" charset="0"/>
                <a:ea typeface="Cambria" pitchFamily="34" charset="-122"/>
                <a:cs typeface="Cambria" pitchFamily="34" charset="-120"/>
              </a:rPr>
              <a:t>−1.1%</a:t>
            </a:r>
            <a:endParaRPr lang="en-US" sz="3600" dirty="0"/>
          </a:p>
        </p:txBody>
      </p:sp>
      <p:sp>
        <p:nvSpPr>
          <p:cNvPr id="18" name="Text 16"/>
          <p:cNvSpPr txBox="1"/>
          <p:nvPr/>
        </p:nvSpPr>
        <p:spPr>
          <a:xfrm>
            <a:off x="777240" y="4608576"/>
            <a:ext cx="3063240" cy="438912"/>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Growth, 2022 vs 2021</a:t>
            </a:r>
            <a:endParaRPr lang="en-US" sz="1400" dirty="0"/>
          </a:p>
        </p:txBody>
      </p:sp>
      <p:sp>
        <p:nvSpPr>
          <p:cNvPr id="19" name="Text 17"/>
          <p:cNvSpPr txBox="1"/>
          <p:nvPr/>
        </p:nvSpPr>
        <p:spPr>
          <a:xfrm>
            <a:off x="777240" y="5047488"/>
            <a:ext cx="3063240" cy="512064"/>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₹11.57M vs ₹11.69M; 2023 has 2.5 months</a:t>
            </a:r>
            <a:endParaRPr lang="en-US" sz="1200" dirty="0"/>
          </a:p>
        </p:txBody>
      </p:sp>
      <p:sp>
        <p:nvSpPr>
          <p:cNvPr id="20" name="Shape 18"/>
          <p:cNvSpPr/>
          <p:nvPr/>
        </p:nvSpPr>
        <p:spPr>
          <a:xfrm>
            <a:off x="4334256" y="3703320"/>
            <a:ext cx="3520440" cy="1828800"/>
          </a:xfrm>
          <a:prstGeom prst="roundRect">
            <a:avLst>
              <a:gd name="adj" fmla="val 5000"/>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21" name="Text 19"/>
          <p:cNvSpPr txBox="1"/>
          <p:nvPr/>
        </p:nvSpPr>
        <p:spPr>
          <a:xfrm>
            <a:off x="4562856" y="3840480"/>
            <a:ext cx="3063240" cy="768096"/>
          </a:xfrm>
          <a:prstGeom prst="rect">
            <a:avLst/>
          </a:prstGeom>
          <a:noFill/>
          <a:ln/>
        </p:spPr>
        <p:txBody>
          <a:bodyPr wrap="square" lIns="0" tIns="0" rIns="0" bIns="0" rtlCol="0" anchor="ctr"/>
          <a:lstStyle/>
          <a:p>
            <a:pPr indent="0" marL="0">
              <a:buNone/>
            </a:pPr>
            <a:r>
              <a:rPr lang="en-US" sz="3600" b="1" dirty="0">
                <a:solidFill>
                  <a:srgbClr val="4B1D6B"/>
                </a:solidFill>
                <a:latin typeface="Cambria" pitchFamily="34" charset="0"/>
                <a:ea typeface="Cambria" pitchFamily="34" charset="-122"/>
                <a:cs typeface="Cambria" pitchFamily="34" charset="-120"/>
              </a:rPr>
              <a:t>366.8%</a:t>
            </a:r>
            <a:endParaRPr lang="en-US" sz="3600" dirty="0"/>
          </a:p>
        </p:txBody>
      </p:sp>
      <p:sp>
        <p:nvSpPr>
          <p:cNvPr id="22" name="Text 20"/>
          <p:cNvSpPr txBox="1"/>
          <p:nvPr/>
        </p:nvSpPr>
        <p:spPr>
          <a:xfrm>
            <a:off x="4562856" y="4608576"/>
            <a:ext cx="3063240" cy="438912"/>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Budget achievement</a:t>
            </a:r>
            <a:endParaRPr lang="en-US" sz="1400" dirty="0"/>
          </a:p>
        </p:txBody>
      </p:sp>
      <p:sp>
        <p:nvSpPr>
          <p:cNvPr id="23" name="Text 21"/>
          <p:cNvSpPr txBox="1"/>
          <p:nvPr/>
        </p:nvSpPr>
        <p:spPr>
          <a:xfrm>
            <a:off x="4562856" y="5047488"/>
            <a:ext cx="3063240" cy="512064"/>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All 74 locations above 100%</a:t>
            </a:r>
            <a:endParaRPr lang="en-US" sz="1200" dirty="0"/>
          </a:p>
        </p:txBody>
      </p:sp>
      <p:sp>
        <p:nvSpPr>
          <p:cNvPr id="24" name="Shape 22"/>
          <p:cNvSpPr/>
          <p:nvPr/>
        </p:nvSpPr>
        <p:spPr>
          <a:xfrm>
            <a:off x="8119872" y="3703320"/>
            <a:ext cx="3520440" cy="1828800"/>
          </a:xfrm>
          <a:prstGeom prst="roundRect">
            <a:avLst>
              <a:gd name="adj" fmla="val 5000"/>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25" name="Text 23"/>
          <p:cNvSpPr txBox="1"/>
          <p:nvPr/>
        </p:nvSpPr>
        <p:spPr>
          <a:xfrm>
            <a:off x="8348472" y="3840480"/>
            <a:ext cx="3063240" cy="768096"/>
          </a:xfrm>
          <a:prstGeom prst="rect">
            <a:avLst/>
          </a:prstGeom>
          <a:noFill/>
          <a:ln/>
        </p:spPr>
        <p:txBody>
          <a:bodyPr wrap="square" lIns="0" tIns="0" rIns="0" bIns="0" rtlCol="0" anchor="ctr"/>
          <a:lstStyle/>
          <a:p>
            <a:pPr indent="0" marL="0">
              <a:buNone/>
            </a:pPr>
            <a:r>
              <a:rPr lang="en-US" sz="3600" b="1" dirty="0">
                <a:solidFill>
                  <a:srgbClr val="4B1D6B"/>
                </a:solidFill>
                <a:latin typeface="Cambria" pitchFamily="34" charset="0"/>
                <a:ea typeface="Cambria" pitchFamily="34" charset="-122"/>
                <a:cs typeface="Cambria" pitchFamily="34" charset="-120"/>
              </a:rPr>
              <a:t>2.6%</a:t>
            </a:r>
            <a:endParaRPr lang="en-US" sz="3600" dirty="0"/>
          </a:p>
        </p:txBody>
      </p:sp>
      <p:sp>
        <p:nvSpPr>
          <p:cNvPr id="26" name="Text 24"/>
          <p:cNvSpPr txBox="1"/>
          <p:nvPr/>
        </p:nvSpPr>
        <p:spPr>
          <a:xfrm>
            <a:off x="8348472" y="4608576"/>
            <a:ext cx="3063240" cy="438912"/>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Sales from top 10 customers</a:t>
            </a:r>
            <a:endParaRPr lang="en-US" sz="1400" dirty="0"/>
          </a:p>
        </p:txBody>
      </p:sp>
      <p:sp>
        <p:nvSpPr>
          <p:cNvPr id="27" name="Text 25"/>
          <p:cNvSpPr txBox="1"/>
          <p:nvPr/>
        </p:nvSpPr>
        <p:spPr>
          <a:xfrm>
            <a:off x="8348472" y="5047488"/>
            <a:ext cx="3063240" cy="512064"/>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801 customers, no concentration</a:t>
            </a:r>
            <a:endParaRPr lang="en-US" sz="1200" dirty="0"/>
          </a:p>
        </p:txBody>
      </p:sp>
      <p:sp>
        <p:nvSpPr>
          <p:cNvPr id="28" name="Text 26"/>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800" b="1" dirty="0">
                <a:solidFill>
                  <a:srgbClr val="4B1D6B"/>
                </a:solidFill>
                <a:latin typeface="Calibri" pitchFamily="34" charset="0"/>
                <a:ea typeface="Calibri" pitchFamily="34" charset="-122"/>
                <a:cs typeface="Calibri" pitchFamily="34" charset="-120"/>
              </a:rPr>
              <a:t>Focus areas: grow the largest cities, fix margin on best sellers, rebuild the budget.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Data preparation in Power Query</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Nine sheets became one fact table and clean dimensions</a:t>
            </a:r>
            <a:endParaRPr lang="en-US" sz="1600" dirty="0"/>
          </a:p>
        </p:txBody>
      </p:sp>
      <p:sp>
        <p:nvSpPr>
          <p:cNvPr id="4" name="Shape 2"/>
          <p:cNvSpPr/>
          <p:nvPr/>
        </p:nvSpPr>
        <p:spPr>
          <a:xfrm>
            <a:off x="548640" y="1691640"/>
            <a:ext cx="2057400" cy="2514600"/>
          </a:xfrm>
          <a:prstGeom prst="roundRect">
            <a:avLst>
              <a:gd name="adj" fmla="val 444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31520" y="1874520"/>
            <a:ext cx="457200" cy="457200"/>
          </a:xfrm>
          <a:prstGeom prst="ellipse">
            <a:avLst/>
          </a:prstGeom>
          <a:solidFill>
            <a:srgbClr val="4B1D6B"/>
          </a:solidFill>
          <a:ln w="12700">
            <a:solidFill>
              <a:srgbClr val="4B1D6B"/>
            </a:solidFill>
            <a:prstDash val="solid"/>
          </a:ln>
        </p:spPr>
      </p:sp>
      <p:sp>
        <p:nvSpPr>
          <p:cNvPr id="6"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31520" y="2468880"/>
            <a:ext cx="1737360" cy="365760"/>
          </a:xfrm>
          <a:prstGeom prst="rect">
            <a:avLst/>
          </a:prstGeom>
          <a:noFill/>
          <a:ln/>
        </p:spPr>
        <p:txBody>
          <a:bodyPr wrap="square" lIns="0" tIns="0" rIns="0" bIns="0" rtlCol="0" anchor="t"/>
          <a:lstStyle/>
          <a:p>
            <a:pPr indent="0" marL="0">
              <a:buNone/>
            </a:pPr>
            <a:r>
              <a:rPr lang="en-US" sz="1600" b="1" dirty="0">
                <a:solidFill>
                  <a:srgbClr val="2E0F45"/>
                </a:solidFill>
                <a:latin typeface="Calibri" pitchFamily="34" charset="0"/>
                <a:ea typeface="Calibri" pitchFamily="34" charset="-122"/>
                <a:cs typeface="Calibri" pitchFamily="34" charset="-120"/>
              </a:rPr>
              <a:t>Import and profile</a:t>
            </a:r>
            <a:endParaRPr lang="en-US" sz="1600" dirty="0"/>
          </a:p>
        </p:txBody>
      </p:sp>
      <p:sp>
        <p:nvSpPr>
          <p:cNvPr id="8" name="Text 6"/>
          <p:cNvSpPr txBox="1"/>
          <p:nvPr/>
        </p:nvSpPr>
        <p:spPr>
          <a:xfrm>
            <a:off x="731520" y="2880360"/>
            <a:ext cx="1737360" cy="128016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Nine sheets loaded. Column quality and distribution checked on every table.</a:t>
            </a:r>
            <a:endParaRPr lang="en-US" sz="1300" dirty="0"/>
          </a:p>
        </p:txBody>
      </p:sp>
      <p:sp>
        <p:nvSpPr>
          <p:cNvPr id="9" name="Shape 7"/>
          <p:cNvSpPr/>
          <p:nvPr/>
        </p:nvSpPr>
        <p:spPr>
          <a:xfrm>
            <a:off x="2788920" y="1691640"/>
            <a:ext cx="2057400" cy="2514600"/>
          </a:xfrm>
          <a:prstGeom prst="roundRect">
            <a:avLst>
              <a:gd name="adj" fmla="val 444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2971800" y="1874520"/>
            <a:ext cx="457200" cy="457200"/>
          </a:xfrm>
          <a:prstGeom prst="ellipse">
            <a:avLst/>
          </a:prstGeom>
          <a:solidFill>
            <a:srgbClr val="4B1D6B"/>
          </a:solidFill>
          <a:ln w="12700">
            <a:solidFill>
              <a:srgbClr val="4B1D6B"/>
            </a:solidFill>
            <a:prstDash val="solid"/>
          </a:ln>
        </p:spPr>
      </p:sp>
      <p:sp>
        <p:nvSpPr>
          <p:cNvPr id="11" name="Text 9"/>
          <p:cNvSpPr txBox="1"/>
          <p:nvPr/>
        </p:nvSpPr>
        <p:spPr>
          <a:xfrm>
            <a:off x="297180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2971800" y="2468880"/>
            <a:ext cx="1737360" cy="365760"/>
          </a:xfrm>
          <a:prstGeom prst="rect">
            <a:avLst/>
          </a:prstGeom>
          <a:noFill/>
          <a:ln/>
        </p:spPr>
        <p:txBody>
          <a:bodyPr wrap="square" lIns="0" tIns="0" rIns="0" bIns="0" rtlCol="0" anchor="t"/>
          <a:lstStyle/>
          <a:p>
            <a:pPr indent="0" marL="0">
              <a:buNone/>
            </a:pPr>
            <a:r>
              <a:rPr lang="en-US" sz="1600" b="1" dirty="0">
                <a:solidFill>
                  <a:srgbClr val="2E0F45"/>
                </a:solidFill>
                <a:latin typeface="Calibri" pitchFamily="34" charset="0"/>
                <a:ea typeface="Calibri" pitchFamily="34" charset="-122"/>
                <a:cs typeface="Calibri" pitchFamily="34" charset="-120"/>
              </a:rPr>
              <a:t>Clean and type</a:t>
            </a:r>
            <a:endParaRPr lang="en-US" sz="1600" dirty="0"/>
          </a:p>
        </p:txBody>
      </p:sp>
      <p:sp>
        <p:nvSpPr>
          <p:cNvPr id="13" name="Text 11"/>
          <p:cNvSpPr txBox="1"/>
          <p:nvPr/>
        </p:nvSpPr>
        <p:spPr>
          <a:xfrm>
            <a:off x="2971800" y="2880360"/>
            <a:ext cx="1737360" cy="128016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Types set, blanks removed, IDs standardised (Sales Person ID became Salesperson ID).</a:t>
            </a:r>
            <a:endParaRPr lang="en-US" sz="1300" dirty="0"/>
          </a:p>
        </p:txBody>
      </p:sp>
      <p:sp>
        <p:nvSpPr>
          <p:cNvPr id="14" name="Shape 12"/>
          <p:cNvSpPr/>
          <p:nvPr/>
        </p:nvSpPr>
        <p:spPr>
          <a:xfrm>
            <a:off x="5029200" y="1691640"/>
            <a:ext cx="2057400" cy="2514600"/>
          </a:xfrm>
          <a:prstGeom prst="roundRect">
            <a:avLst>
              <a:gd name="adj" fmla="val 444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15" name="Shape 13"/>
          <p:cNvSpPr/>
          <p:nvPr/>
        </p:nvSpPr>
        <p:spPr>
          <a:xfrm>
            <a:off x="5212080" y="1874520"/>
            <a:ext cx="457200" cy="457200"/>
          </a:xfrm>
          <a:prstGeom prst="ellipse">
            <a:avLst/>
          </a:prstGeom>
          <a:solidFill>
            <a:srgbClr val="4B1D6B"/>
          </a:solidFill>
          <a:ln w="12700">
            <a:solidFill>
              <a:srgbClr val="4B1D6B"/>
            </a:solidFill>
            <a:prstDash val="solid"/>
          </a:ln>
        </p:spPr>
      </p:sp>
      <p:sp>
        <p:nvSpPr>
          <p:cNvPr id="16" name="Text 14"/>
          <p:cNvSpPr txBox="1"/>
          <p:nvPr/>
        </p:nvSpPr>
        <p:spPr>
          <a:xfrm>
            <a:off x="521208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5212080" y="2468880"/>
            <a:ext cx="1737360" cy="365760"/>
          </a:xfrm>
          <a:prstGeom prst="rect">
            <a:avLst/>
          </a:prstGeom>
          <a:noFill/>
          <a:ln/>
        </p:spPr>
        <p:txBody>
          <a:bodyPr wrap="square" lIns="0" tIns="0" rIns="0" bIns="0" rtlCol="0" anchor="t"/>
          <a:lstStyle/>
          <a:p>
            <a:pPr indent="0" marL="0">
              <a:buNone/>
            </a:pPr>
            <a:r>
              <a:rPr lang="en-US" sz="1600" b="1" dirty="0">
                <a:solidFill>
                  <a:srgbClr val="2E0F45"/>
                </a:solidFill>
                <a:latin typeface="Calibri" pitchFamily="34" charset="0"/>
                <a:ea typeface="Calibri" pitchFamily="34" charset="-122"/>
                <a:cs typeface="Calibri" pitchFamily="34" charset="-120"/>
              </a:rPr>
              <a:t>Append</a:t>
            </a:r>
            <a:endParaRPr lang="en-US" sz="1600" dirty="0"/>
          </a:p>
        </p:txBody>
      </p:sp>
      <p:sp>
        <p:nvSpPr>
          <p:cNvPr id="18" name="Text 16"/>
          <p:cNvSpPr txBox="1"/>
          <p:nvPr/>
        </p:nvSpPr>
        <p:spPr>
          <a:xfrm>
            <a:off x="5212080" y="2880360"/>
            <a:ext cx="1737360" cy="128016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2021, 2022 and 2023 sales stacked into Fact_Sales: 10,889 rows.</a:t>
            </a:r>
            <a:endParaRPr lang="en-US" sz="1300" dirty="0"/>
          </a:p>
        </p:txBody>
      </p:sp>
      <p:sp>
        <p:nvSpPr>
          <p:cNvPr id="19" name="Shape 17"/>
          <p:cNvSpPr/>
          <p:nvPr/>
        </p:nvSpPr>
        <p:spPr>
          <a:xfrm>
            <a:off x="7269480" y="1691640"/>
            <a:ext cx="2057400" cy="2514600"/>
          </a:xfrm>
          <a:prstGeom prst="roundRect">
            <a:avLst>
              <a:gd name="adj" fmla="val 444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20" name="Shape 18"/>
          <p:cNvSpPr/>
          <p:nvPr/>
        </p:nvSpPr>
        <p:spPr>
          <a:xfrm>
            <a:off x="7452360" y="1874520"/>
            <a:ext cx="457200" cy="457200"/>
          </a:xfrm>
          <a:prstGeom prst="ellipse">
            <a:avLst/>
          </a:prstGeom>
          <a:solidFill>
            <a:srgbClr val="4B1D6B"/>
          </a:solidFill>
          <a:ln w="12700">
            <a:solidFill>
              <a:srgbClr val="4B1D6B"/>
            </a:solidFill>
            <a:prstDash val="solid"/>
          </a:ln>
        </p:spPr>
      </p:sp>
      <p:sp>
        <p:nvSpPr>
          <p:cNvPr id="21" name="Text 19"/>
          <p:cNvSpPr txBox="1"/>
          <p:nvPr/>
        </p:nvSpPr>
        <p:spPr>
          <a:xfrm>
            <a:off x="745236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7452360" y="2468880"/>
            <a:ext cx="1737360" cy="365760"/>
          </a:xfrm>
          <a:prstGeom prst="rect">
            <a:avLst/>
          </a:prstGeom>
          <a:noFill/>
          <a:ln/>
        </p:spPr>
        <p:txBody>
          <a:bodyPr wrap="square" lIns="0" tIns="0" rIns="0" bIns="0" rtlCol="0" anchor="t"/>
          <a:lstStyle/>
          <a:p>
            <a:pPr indent="0" marL="0">
              <a:buNone/>
            </a:pPr>
            <a:r>
              <a:rPr lang="en-US" sz="1600" b="1" dirty="0">
                <a:solidFill>
                  <a:srgbClr val="2E0F45"/>
                </a:solidFill>
                <a:latin typeface="Calibri" pitchFamily="34" charset="0"/>
                <a:ea typeface="Calibri" pitchFamily="34" charset="-122"/>
                <a:cs typeface="Calibri" pitchFamily="34" charset="-120"/>
              </a:rPr>
              <a:t>Merge</a:t>
            </a:r>
            <a:endParaRPr lang="en-US" sz="1600" dirty="0"/>
          </a:p>
        </p:txBody>
      </p:sp>
      <p:sp>
        <p:nvSpPr>
          <p:cNvPr id="23" name="Text 21"/>
          <p:cNvSpPr txBox="1"/>
          <p:nvPr/>
        </p:nvSpPr>
        <p:spPr>
          <a:xfrm>
            <a:off x="7452360" y="2880360"/>
            <a:ext cx="1737360" cy="128016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Product cost merged in so profit can be calculated. Names stay in the dimensions.</a:t>
            </a:r>
            <a:endParaRPr lang="en-US" sz="1300" dirty="0"/>
          </a:p>
        </p:txBody>
      </p:sp>
      <p:sp>
        <p:nvSpPr>
          <p:cNvPr id="24" name="Shape 22"/>
          <p:cNvSpPr/>
          <p:nvPr/>
        </p:nvSpPr>
        <p:spPr>
          <a:xfrm>
            <a:off x="9509760" y="1691640"/>
            <a:ext cx="2057400" cy="2514600"/>
          </a:xfrm>
          <a:prstGeom prst="roundRect">
            <a:avLst>
              <a:gd name="adj" fmla="val 444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25" name="Shape 23"/>
          <p:cNvSpPr/>
          <p:nvPr/>
        </p:nvSpPr>
        <p:spPr>
          <a:xfrm>
            <a:off x="9692640" y="1874520"/>
            <a:ext cx="457200" cy="457200"/>
          </a:xfrm>
          <a:prstGeom prst="ellipse">
            <a:avLst/>
          </a:prstGeom>
          <a:solidFill>
            <a:srgbClr val="4B1D6B"/>
          </a:solidFill>
          <a:ln w="12700">
            <a:solidFill>
              <a:srgbClr val="4B1D6B"/>
            </a:solidFill>
            <a:prstDash val="solid"/>
          </a:ln>
        </p:spPr>
      </p:sp>
      <p:sp>
        <p:nvSpPr>
          <p:cNvPr id="26" name="Text 24"/>
          <p:cNvSpPr txBox="1"/>
          <p:nvPr/>
        </p:nvSpPr>
        <p:spPr>
          <a:xfrm>
            <a:off x="969264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txBox="1"/>
          <p:nvPr/>
        </p:nvSpPr>
        <p:spPr>
          <a:xfrm>
            <a:off x="9692640" y="2468880"/>
            <a:ext cx="1737360" cy="365760"/>
          </a:xfrm>
          <a:prstGeom prst="rect">
            <a:avLst/>
          </a:prstGeom>
          <a:noFill/>
          <a:ln/>
        </p:spPr>
        <p:txBody>
          <a:bodyPr wrap="square" lIns="0" tIns="0" rIns="0" bIns="0" rtlCol="0" anchor="t"/>
          <a:lstStyle/>
          <a:p>
            <a:pPr indent="0" marL="0">
              <a:buNone/>
            </a:pPr>
            <a:r>
              <a:rPr lang="en-US" sz="1600" b="1" dirty="0">
                <a:solidFill>
                  <a:srgbClr val="2E0F45"/>
                </a:solidFill>
                <a:latin typeface="Calibri" pitchFamily="34" charset="0"/>
                <a:ea typeface="Calibri" pitchFamily="34" charset="-122"/>
                <a:cs typeface="Calibri" pitchFamily="34" charset="-120"/>
              </a:rPr>
              <a:t>Split Budgeting</a:t>
            </a:r>
            <a:endParaRPr lang="en-US" sz="1600" dirty="0"/>
          </a:p>
        </p:txBody>
      </p:sp>
      <p:sp>
        <p:nvSpPr>
          <p:cNvPr id="28" name="Text 26"/>
          <p:cNvSpPr txBox="1"/>
          <p:nvPr/>
        </p:nvSpPr>
        <p:spPr>
          <a:xfrm>
            <a:off x="9692640" y="2880360"/>
            <a:ext cx="1737360" cy="128016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Two tables side by side became annual budget (97 rows) and monthly allocation (12 rows).</a:t>
            </a:r>
            <a:endParaRPr lang="en-US" sz="1300" dirty="0"/>
          </a:p>
        </p:txBody>
      </p:sp>
      <p:sp>
        <p:nvSpPr>
          <p:cNvPr id="29" name="Shape 27"/>
          <p:cNvSpPr/>
          <p:nvPr/>
        </p:nvSpPr>
        <p:spPr>
          <a:xfrm>
            <a:off x="548640" y="4526280"/>
            <a:ext cx="3520440" cy="1600200"/>
          </a:xfrm>
          <a:prstGeom prst="roundRect">
            <a:avLst>
              <a:gd name="adj" fmla="val 5714"/>
            </a:avLst>
          </a:prstGeom>
          <a:solidFill>
            <a:srgbClr val="FFFFFF"/>
          </a:solidFill>
          <a:ln w="12700">
            <a:solidFill>
              <a:srgbClr val="FFFFFF"/>
            </a:solidFill>
            <a:prstDash val="solid"/>
          </a:ln>
        </p:spPr>
      </p:sp>
      <p:sp>
        <p:nvSpPr>
          <p:cNvPr id="30" name="Shape 28"/>
          <p:cNvSpPr/>
          <p:nvPr/>
        </p:nvSpPr>
        <p:spPr>
          <a:xfrm>
            <a:off x="548640" y="4526280"/>
            <a:ext cx="3520440" cy="1600200"/>
          </a:xfrm>
          <a:prstGeom prst="roundRect">
            <a:avLst>
              <a:gd name="adj" fmla="val 5714"/>
            </a:avLst>
          </a:prstGeom>
          <a:solidFill>
            <a:srgbClr val="FFFFFF"/>
          </a:solidFill>
          <a:ln w="15875">
            <a:solidFill>
              <a:srgbClr val="D9C9E6"/>
            </a:solidFill>
            <a:prstDash val="solid"/>
          </a:ln>
        </p:spPr>
      </p:sp>
      <p:sp>
        <p:nvSpPr>
          <p:cNvPr id="31" name="Text 29"/>
          <p:cNvSpPr txBox="1"/>
          <p:nvPr/>
        </p:nvSpPr>
        <p:spPr>
          <a:xfrm>
            <a:off x="777240" y="4617720"/>
            <a:ext cx="3108960" cy="731520"/>
          </a:xfrm>
          <a:prstGeom prst="rect">
            <a:avLst/>
          </a:prstGeom>
          <a:noFill/>
          <a:ln/>
        </p:spPr>
        <p:txBody>
          <a:bodyPr wrap="square" lIns="0" tIns="0" rIns="0" bIns="0" rtlCol="0" anchor="ctr"/>
          <a:lstStyle/>
          <a:p>
            <a:pPr indent="0" marL="0">
              <a:buNone/>
            </a:pPr>
            <a:r>
              <a:rPr lang="en-US" sz="3200" b="1" dirty="0">
                <a:solidFill>
                  <a:srgbClr val="4B1D6B"/>
                </a:solidFill>
                <a:latin typeface="Cambria" pitchFamily="34" charset="0"/>
                <a:ea typeface="Cambria" pitchFamily="34" charset="-122"/>
                <a:cs typeface="Cambria" pitchFamily="34" charset="-120"/>
              </a:rPr>
              <a:t>0</a:t>
            </a:r>
            <a:endParaRPr lang="en-US" sz="3200" dirty="0"/>
          </a:p>
        </p:txBody>
      </p:sp>
      <p:sp>
        <p:nvSpPr>
          <p:cNvPr id="32" name="Text 30"/>
          <p:cNvSpPr txBox="1"/>
          <p:nvPr/>
        </p:nvSpPr>
        <p:spPr>
          <a:xfrm>
            <a:off x="777240" y="5394960"/>
            <a:ext cx="3108960" cy="64008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blank values or duplicate order IDs in 10,889 rows</a:t>
            </a:r>
            <a:endParaRPr lang="en-US" sz="1300" dirty="0"/>
          </a:p>
        </p:txBody>
      </p:sp>
      <p:sp>
        <p:nvSpPr>
          <p:cNvPr id="33" name="Shape 31"/>
          <p:cNvSpPr/>
          <p:nvPr/>
        </p:nvSpPr>
        <p:spPr>
          <a:xfrm>
            <a:off x="4334256" y="4526280"/>
            <a:ext cx="3520440" cy="1600200"/>
          </a:xfrm>
          <a:prstGeom prst="roundRect">
            <a:avLst>
              <a:gd name="adj" fmla="val 5714"/>
            </a:avLst>
          </a:prstGeom>
          <a:solidFill>
            <a:srgbClr val="FFFFFF"/>
          </a:solidFill>
          <a:ln w="12700">
            <a:solidFill>
              <a:srgbClr val="FFFFFF"/>
            </a:solidFill>
            <a:prstDash val="solid"/>
          </a:ln>
        </p:spPr>
      </p:sp>
      <p:sp>
        <p:nvSpPr>
          <p:cNvPr id="34" name="Shape 32"/>
          <p:cNvSpPr/>
          <p:nvPr/>
        </p:nvSpPr>
        <p:spPr>
          <a:xfrm>
            <a:off x="4334256" y="4526280"/>
            <a:ext cx="3520440" cy="1600200"/>
          </a:xfrm>
          <a:prstGeom prst="roundRect">
            <a:avLst>
              <a:gd name="adj" fmla="val 5714"/>
            </a:avLst>
          </a:prstGeom>
          <a:solidFill>
            <a:srgbClr val="FFFFFF"/>
          </a:solidFill>
          <a:ln w="15875">
            <a:solidFill>
              <a:srgbClr val="D9C9E6"/>
            </a:solidFill>
            <a:prstDash val="solid"/>
          </a:ln>
        </p:spPr>
      </p:sp>
      <p:sp>
        <p:nvSpPr>
          <p:cNvPr id="35" name="Text 33"/>
          <p:cNvSpPr txBox="1"/>
          <p:nvPr/>
        </p:nvSpPr>
        <p:spPr>
          <a:xfrm>
            <a:off x="4562856" y="4617720"/>
            <a:ext cx="3108960" cy="731520"/>
          </a:xfrm>
          <a:prstGeom prst="rect">
            <a:avLst/>
          </a:prstGeom>
          <a:noFill/>
          <a:ln/>
        </p:spPr>
        <p:txBody>
          <a:bodyPr wrap="square" lIns="0" tIns="0" rIns="0" bIns="0" rtlCol="0" anchor="ctr"/>
          <a:lstStyle/>
          <a:p>
            <a:pPr indent="0" marL="0">
              <a:buNone/>
            </a:pPr>
            <a:r>
              <a:rPr lang="en-US" sz="3200" b="1" dirty="0">
                <a:solidFill>
                  <a:srgbClr val="4B1D6B"/>
                </a:solidFill>
                <a:latin typeface="Cambria" pitchFamily="34" charset="0"/>
                <a:ea typeface="Cambria" pitchFamily="34" charset="-122"/>
                <a:cs typeface="Cambria" pitchFamily="34" charset="-120"/>
              </a:rPr>
              <a:t>23</a:t>
            </a:r>
            <a:endParaRPr lang="en-US" sz="3200" dirty="0"/>
          </a:p>
        </p:txBody>
      </p:sp>
      <p:sp>
        <p:nvSpPr>
          <p:cNvPr id="36" name="Text 34"/>
          <p:cNvSpPr txBox="1"/>
          <p:nvPr/>
        </p:nvSpPr>
        <p:spPr>
          <a:xfrm>
            <a:off x="4562856" y="5394960"/>
            <a:ext cx="3108960" cy="64008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budget locations that match no location or sales</a:t>
            </a:r>
            <a:endParaRPr lang="en-US" sz="1300" dirty="0"/>
          </a:p>
        </p:txBody>
      </p:sp>
      <p:sp>
        <p:nvSpPr>
          <p:cNvPr id="37" name="Shape 35"/>
          <p:cNvSpPr/>
          <p:nvPr/>
        </p:nvSpPr>
        <p:spPr>
          <a:xfrm>
            <a:off x="8119872" y="4526280"/>
            <a:ext cx="3520440" cy="1600200"/>
          </a:xfrm>
          <a:prstGeom prst="roundRect">
            <a:avLst>
              <a:gd name="adj" fmla="val 5714"/>
            </a:avLst>
          </a:prstGeom>
          <a:solidFill>
            <a:srgbClr val="FFFFFF"/>
          </a:solidFill>
          <a:ln w="12700">
            <a:solidFill>
              <a:srgbClr val="FFFFFF"/>
            </a:solidFill>
            <a:prstDash val="solid"/>
          </a:ln>
        </p:spPr>
      </p:sp>
      <p:sp>
        <p:nvSpPr>
          <p:cNvPr id="38" name="Shape 36"/>
          <p:cNvSpPr/>
          <p:nvPr/>
        </p:nvSpPr>
        <p:spPr>
          <a:xfrm>
            <a:off x="8119872" y="4526280"/>
            <a:ext cx="3520440" cy="1600200"/>
          </a:xfrm>
          <a:prstGeom prst="roundRect">
            <a:avLst>
              <a:gd name="adj" fmla="val 5714"/>
            </a:avLst>
          </a:prstGeom>
          <a:solidFill>
            <a:srgbClr val="FFFFFF"/>
          </a:solidFill>
          <a:ln w="15875">
            <a:solidFill>
              <a:srgbClr val="D9C9E6"/>
            </a:solidFill>
            <a:prstDash val="solid"/>
          </a:ln>
        </p:spPr>
      </p:sp>
      <p:sp>
        <p:nvSpPr>
          <p:cNvPr id="39" name="Text 37"/>
          <p:cNvSpPr txBox="1"/>
          <p:nvPr/>
        </p:nvSpPr>
        <p:spPr>
          <a:xfrm>
            <a:off x="8348472" y="4617720"/>
            <a:ext cx="3108960" cy="731520"/>
          </a:xfrm>
          <a:prstGeom prst="rect">
            <a:avLst/>
          </a:prstGeom>
          <a:noFill/>
          <a:ln/>
        </p:spPr>
        <p:txBody>
          <a:bodyPr wrap="square" lIns="0" tIns="0" rIns="0" bIns="0" rtlCol="0" anchor="ctr"/>
          <a:lstStyle/>
          <a:p>
            <a:pPr indent="0" marL="0">
              <a:buNone/>
            </a:pPr>
            <a:r>
              <a:rPr lang="en-US" sz="3200" b="1" dirty="0">
                <a:solidFill>
                  <a:srgbClr val="4B1D6B"/>
                </a:solidFill>
                <a:latin typeface="Cambria" pitchFamily="34" charset="0"/>
                <a:ea typeface="Cambria" pitchFamily="34" charset="-122"/>
                <a:cs typeface="Cambria" pitchFamily="34" charset="-120"/>
              </a:rPr>
              <a:t>801 vs 509</a:t>
            </a:r>
            <a:endParaRPr lang="en-US" sz="3200" dirty="0"/>
          </a:p>
        </p:txBody>
      </p:sp>
      <p:sp>
        <p:nvSpPr>
          <p:cNvPr id="40" name="Text 38"/>
          <p:cNvSpPr txBox="1"/>
          <p:nvPr/>
        </p:nvSpPr>
        <p:spPr>
          <a:xfrm>
            <a:off x="8348472" y="5394960"/>
            <a:ext cx="3108960" cy="64008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customer IDs vs distinct names (229 names on 2 to 5 IDs)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Data model: a star schema</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Dimensions filter the fact table, never the other way round</a:t>
            </a:r>
            <a:endParaRPr lang="en-US" sz="1600" dirty="0"/>
          </a:p>
        </p:txBody>
      </p:sp>
      <p:sp>
        <p:nvSpPr>
          <p:cNvPr id="4" name="Shape 2"/>
          <p:cNvSpPr/>
          <p:nvPr/>
        </p:nvSpPr>
        <p:spPr>
          <a:xfrm>
            <a:off x="3794760" y="2331720"/>
            <a:ext cx="1600200" cy="731520"/>
          </a:xfrm>
          <a:prstGeom prst="line">
            <a:avLst/>
          </a:prstGeom>
          <a:noFill/>
          <a:ln w="22225">
            <a:solidFill>
              <a:srgbClr val="7B3FA0"/>
            </a:solidFill>
            <a:prstDash val="solid"/>
          </a:ln>
        </p:spPr>
      </p:sp>
      <p:sp>
        <p:nvSpPr>
          <p:cNvPr id="5" name="Shape 3"/>
          <p:cNvSpPr/>
          <p:nvPr/>
        </p:nvSpPr>
        <p:spPr>
          <a:xfrm>
            <a:off x="6080760" y="2331720"/>
            <a:ext cx="0" cy="731520"/>
          </a:xfrm>
          <a:prstGeom prst="line">
            <a:avLst/>
          </a:prstGeom>
          <a:noFill/>
          <a:ln w="22225">
            <a:solidFill>
              <a:srgbClr val="7B3FA0"/>
            </a:solidFill>
            <a:prstDash val="solid"/>
          </a:ln>
        </p:spPr>
      </p:sp>
      <p:sp>
        <p:nvSpPr>
          <p:cNvPr id="6" name="Shape 4"/>
          <p:cNvSpPr/>
          <p:nvPr/>
        </p:nvSpPr>
        <p:spPr>
          <a:xfrm flipV="1">
            <a:off x="6766560" y="2331720"/>
            <a:ext cx="1600200" cy="731520"/>
          </a:xfrm>
          <a:prstGeom prst="line">
            <a:avLst/>
          </a:prstGeom>
          <a:noFill/>
          <a:ln w="22225">
            <a:solidFill>
              <a:srgbClr val="7B3FA0"/>
            </a:solidFill>
            <a:prstDash val="solid"/>
          </a:ln>
        </p:spPr>
      </p:sp>
      <p:sp>
        <p:nvSpPr>
          <p:cNvPr id="7" name="Shape 5"/>
          <p:cNvSpPr/>
          <p:nvPr/>
        </p:nvSpPr>
        <p:spPr>
          <a:xfrm flipV="1">
            <a:off x="4389120" y="4480560"/>
            <a:ext cx="1005840" cy="777240"/>
          </a:xfrm>
          <a:prstGeom prst="line">
            <a:avLst/>
          </a:prstGeom>
          <a:noFill/>
          <a:ln w="22225">
            <a:solidFill>
              <a:srgbClr val="7B3FA0"/>
            </a:solidFill>
            <a:prstDash val="solid"/>
          </a:ln>
        </p:spPr>
      </p:sp>
      <p:sp>
        <p:nvSpPr>
          <p:cNvPr id="8" name="Shape 6"/>
          <p:cNvSpPr/>
          <p:nvPr/>
        </p:nvSpPr>
        <p:spPr>
          <a:xfrm>
            <a:off x="6766560" y="4480560"/>
            <a:ext cx="1005840" cy="777240"/>
          </a:xfrm>
          <a:prstGeom prst="line">
            <a:avLst/>
          </a:prstGeom>
          <a:noFill/>
          <a:ln w="22225">
            <a:solidFill>
              <a:srgbClr val="7B3FA0"/>
            </a:solidFill>
            <a:prstDash val="solid"/>
          </a:ln>
        </p:spPr>
      </p:sp>
      <p:sp>
        <p:nvSpPr>
          <p:cNvPr id="9" name="Shape 7"/>
          <p:cNvSpPr/>
          <p:nvPr/>
        </p:nvSpPr>
        <p:spPr>
          <a:xfrm>
            <a:off x="2468880" y="5623560"/>
            <a:ext cx="777240" cy="0"/>
          </a:xfrm>
          <a:prstGeom prst="line">
            <a:avLst/>
          </a:prstGeom>
          <a:noFill/>
          <a:ln w="22225">
            <a:solidFill>
              <a:srgbClr val="7B3FA0"/>
            </a:solidFill>
            <a:prstDash val="solid"/>
          </a:ln>
        </p:spPr>
      </p:sp>
      <p:sp>
        <p:nvSpPr>
          <p:cNvPr id="10" name="Shape 8"/>
          <p:cNvSpPr/>
          <p:nvPr/>
        </p:nvSpPr>
        <p:spPr>
          <a:xfrm>
            <a:off x="8961120" y="5623560"/>
            <a:ext cx="777240" cy="0"/>
          </a:xfrm>
          <a:prstGeom prst="line">
            <a:avLst/>
          </a:prstGeom>
          <a:noFill/>
          <a:ln w="22225">
            <a:solidFill>
              <a:srgbClr val="7B3FA0"/>
            </a:solidFill>
            <a:prstDash val="solid"/>
          </a:ln>
        </p:spPr>
      </p:sp>
      <p:sp>
        <p:nvSpPr>
          <p:cNvPr id="11" name="Shape 9"/>
          <p:cNvSpPr/>
          <p:nvPr/>
        </p:nvSpPr>
        <p:spPr>
          <a:xfrm>
            <a:off x="2743200" y="1554480"/>
            <a:ext cx="2103120" cy="777240"/>
          </a:xfrm>
          <a:prstGeom prst="roundRect">
            <a:avLst>
              <a:gd name="adj" fmla="val 11765"/>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12" name="Shape 10"/>
          <p:cNvSpPr/>
          <p:nvPr/>
        </p:nvSpPr>
        <p:spPr>
          <a:xfrm>
            <a:off x="2743200" y="1554480"/>
            <a:ext cx="2103120" cy="365760"/>
          </a:xfrm>
          <a:prstGeom prst="rect">
            <a:avLst/>
          </a:prstGeom>
          <a:solidFill>
            <a:srgbClr val="4B1D6B"/>
          </a:solidFill>
          <a:ln w="12700">
            <a:solidFill>
              <a:srgbClr val="4B1D6B"/>
            </a:solidFill>
            <a:prstDash val="solid"/>
          </a:ln>
        </p:spPr>
      </p:sp>
      <p:sp>
        <p:nvSpPr>
          <p:cNvPr id="13" name="Text 11"/>
          <p:cNvSpPr txBox="1"/>
          <p:nvPr/>
        </p:nvSpPr>
        <p:spPr>
          <a:xfrm>
            <a:off x="2852928" y="1554480"/>
            <a:ext cx="188366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Dim_Product</a:t>
            </a:r>
            <a:endParaRPr lang="en-US" sz="1300" dirty="0"/>
          </a:p>
        </p:txBody>
      </p:sp>
      <p:sp>
        <p:nvSpPr>
          <p:cNvPr id="14" name="Text 12"/>
          <p:cNvSpPr txBox="1"/>
          <p:nvPr/>
        </p:nvSpPr>
        <p:spPr>
          <a:xfrm>
            <a:off x="2852928" y="1975104"/>
            <a:ext cx="1883664" cy="320040"/>
          </a:xfrm>
          <a:prstGeom prst="rect">
            <a:avLst/>
          </a:prstGeom>
          <a:noFill/>
          <a:ln/>
        </p:spPr>
        <p:txBody>
          <a:bodyPr wrap="square" lIns="0" tIns="0" rIns="0" bIns="0" rtlCol="0" anchor="t"/>
          <a:lstStyle/>
          <a:p>
            <a:pPr indent="0" marL="0">
              <a:buNone/>
            </a:pPr>
            <a:r>
              <a:rPr lang="en-US" sz="1100" dirty="0">
                <a:solidFill>
                  <a:srgbClr val="2B2233"/>
                </a:solidFill>
                <a:latin typeface="Calibri" pitchFamily="34" charset="0"/>
                <a:ea typeface="Calibri" pitchFamily="34" charset="-122"/>
                <a:cs typeface="Calibri" pitchFamily="34" charset="-120"/>
              </a:rPr>
              <a:t>Product ID, Product Name, Cost</a:t>
            </a:r>
            <a:endParaRPr lang="en-US" sz="1100" dirty="0"/>
          </a:p>
        </p:txBody>
      </p:sp>
      <p:sp>
        <p:nvSpPr>
          <p:cNvPr id="15" name="Shape 13"/>
          <p:cNvSpPr/>
          <p:nvPr/>
        </p:nvSpPr>
        <p:spPr>
          <a:xfrm>
            <a:off x="5029200" y="1554480"/>
            <a:ext cx="2103120" cy="777240"/>
          </a:xfrm>
          <a:prstGeom prst="roundRect">
            <a:avLst>
              <a:gd name="adj" fmla="val 11765"/>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5029200" y="1554480"/>
            <a:ext cx="2103120" cy="365760"/>
          </a:xfrm>
          <a:prstGeom prst="rect">
            <a:avLst/>
          </a:prstGeom>
          <a:solidFill>
            <a:srgbClr val="4B1D6B"/>
          </a:solidFill>
          <a:ln w="12700">
            <a:solidFill>
              <a:srgbClr val="4B1D6B"/>
            </a:solidFill>
            <a:prstDash val="solid"/>
          </a:ln>
        </p:spPr>
      </p:sp>
      <p:sp>
        <p:nvSpPr>
          <p:cNvPr id="17" name="Text 15"/>
          <p:cNvSpPr txBox="1"/>
          <p:nvPr/>
        </p:nvSpPr>
        <p:spPr>
          <a:xfrm>
            <a:off x="5138928" y="1554480"/>
            <a:ext cx="188366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Dim_Customer</a:t>
            </a:r>
            <a:endParaRPr lang="en-US" sz="1300" dirty="0"/>
          </a:p>
        </p:txBody>
      </p:sp>
      <p:sp>
        <p:nvSpPr>
          <p:cNvPr id="18" name="Text 16"/>
          <p:cNvSpPr txBox="1"/>
          <p:nvPr/>
        </p:nvSpPr>
        <p:spPr>
          <a:xfrm>
            <a:off x="5138928" y="1975104"/>
            <a:ext cx="1883664" cy="320040"/>
          </a:xfrm>
          <a:prstGeom prst="rect">
            <a:avLst/>
          </a:prstGeom>
          <a:noFill/>
          <a:ln/>
        </p:spPr>
        <p:txBody>
          <a:bodyPr wrap="square" lIns="0" tIns="0" rIns="0" bIns="0" rtlCol="0" anchor="t"/>
          <a:lstStyle/>
          <a:p>
            <a:pPr indent="0" marL="0">
              <a:buNone/>
            </a:pPr>
            <a:r>
              <a:rPr lang="en-US" sz="1100" dirty="0">
                <a:solidFill>
                  <a:srgbClr val="2B2233"/>
                </a:solidFill>
                <a:latin typeface="Calibri" pitchFamily="34" charset="0"/>
                <a:ea typeface="Calibri" pitchFamily="34" charset="-122"/>
                <a:cs typeface="Calibri" pitchFamily="34" charset="-120"/>
              </a:rPr>
              <a:t>Customer ID, Customer Name</a:t>
            </a:r>
            <a:endParaRPr lang="en-US" sz="1100" dirty="0"/>
          </a:p>
        </p:txBody>
      </p:sp>
      <p:sp>
        <p:nvSpPr>
          <p:cNvPr id="19" name="Shape 17"/>
          <p:cNvSpPr/>
          <p:nvPr/>
        </p:nvSpPr>
        <p:spPr>
          <a:xfrm>
            <a:off x="7315200" y="1554480"/>
            <a:ext cx="2103120" cy="777240"/>
          </a:xfrm>
          <a:prstGeom prst="roundRect">
            <a:avLst>
              <a:gd name="adj" fmla="val 11765"/>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20" name="Shape 18"/>
          <p:cNvSpPr/>
          <p:nvPr/>
        </p:nvSpPr>
        <p:spPr>
          <a:xfrm>
            <a:off x="7315200" y="1554480"/>
            <a:ext cx="2103120" cy="365760"/>
          </a:xfrm>
          <a:prstGeom prst="rect">
            <a:avLst/>
          </a:prstGeom>
          <a:solidFill>
            <a:srgbClr val="4B1D6B"/>
          </a:solidFill>
          <a:ln w="12700">
            <a:solidFill>
              <a:srgbClr val="4B1D6B"/>
            </a:solidFill>
            <a:prstDash val="solid"/>
          </a:ln>
        </p:spPr>
      </p:sp>
      <p:sp>
        <p:nvSpPr>
          <p:cNvPr id="21" name="Text 19"/>
          <p:cNvSpPr txBox="1"/>
          <p:nvPr/>
        </p:nvSpPr>
        <p:spPr>
          <a:xfrm>
            <a:off x="7424928" y="1554480"/>
            <a:ext cx="188366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Dim_Salesperson</a:t>
            </a:r>
            <a:endParaRPr lang="en-US" sz="1300" dirty="0"/>
          </a:p>
        </p:txBody>
      </p:sp>
      <p:sp>
        <p:nvSpPr>
          <p:cNvPr id="22" name="Text 20"/>
          <p:cNvSpPr txBox="1"/>
          <p:nvPr/>
        </p:nvSpPr>
        <p:spPr>
          <a:xfrm>
            <a:off x="7424928" y="1975104"/>
            <a:ext cx="1883664" cy="320040"/>
          </a:xfrm>
          <a:prstGeom prst="rect">
            <a:avLst/>
          </a:prstGeom>
          <a:noFill/>
          <a:ln/>
        </p:spPr>
        <p:txBody>
          <a:bodyPr wrap="square" lIns="0" tIns="0" rIns="0" bIns="0" rtlCol="0" anchor="t"/>
          <a:lstStyle/>
          <a:p>
            <a:pPr indent="0" marL="0">
              <a:buNone/>
            </a:pPr>
            <a:r>
              <a:rPr lang="en-US" sz="1100" dirty="0">
                <a:solidFill>
                  <a:srgbClr val="2B2233"/>
                </a:solidFill>
                <a:latin typeface="Calibri" pitchFamily="34" charset="0"/>
                <a:ea typeface="Calibri" pitchFamily="34" charset="-122"/>
                <a:cs typeface="Calibri" pitchFamily="34" charset="-120"/>
              </a:rPr>
              <a:t>Salesperson ID, Name</a:t>
            </a:r>
            <a:endParaRPr lang="en-US" sz="1100" dirty="0"/>
          </a:p>
        </p:txBody>
      </p:sp>
      <p:sp>
        <p:nvSpPr>
          <p:cNvPr id="23" name="Shape 21"/>
          <p:cNvSpPr/>
          <p:nvPr/>
        </p:nvSpPr>
        <p:spPr>
          <a:xfrm>
            <a:off x="4937760" y="3063240"/>
            <a:ext cx="2286000" cy="1417320"/>
          </a:xfrm>
          <a:prstGeom prst="roundRect">
            <a:avLst>
              <a:gd name="adj" fmla="val 6452"/>
            </a:avLst>
          </a:prstGeom>
          <a:solidFill>
            <a:srgbClr val="2E0F45"/>
          </a:solidFill>
          <a:ln w="12700">
            <a:solidFill>
              <a:srgbClr val="2E0F45"/>
            </a:solidFill>
            <a:prstDash val="solid"/>
          </a:ln>
          <a:effectLst>
            <a:outerShdw sx="100000" sy="100000" kx="0" ky="0" algn="bl" rotWithShape="0" blurRad="101600" dist="25400" dir="5400000">
              <a:srgbClr val="000000">
                <a:alpha val="12000"/>
              </a:srgbClr>
            </a:outerShdw>
          </a:effectLst>
        </p:spPr>
      </p:sp>
      <p:sp>
        <p:nvSpPr>
          <p:cNvPr id="24" name="Shape 22"/>
          <p:cNvSpPr/>
          <p:nvPr/>
        </p:nvSpPr>
        <p:spPr>
          <a:xfrm>
            <a:off x="4937760" y="3063240"/>
            <a:ext cx="2286000" cy="365760"/>
          </a:xfrm>
          <a:prstGeom prst="rect">
            <a:avLst/>
          </a:prstGeom>
          <a:solidFill>
            <a:srgbClr val="2E0F45"/>
          </a:solidFill>
          <a:ln w="12700">
            <a:solidFill>
              <a:srgbClr val="2E0F45"/>
            </a:solidFill>
            <a:prstDash val="solid"/>
          </a:ln>
        </p:spPr>
      </p:sp>
      <p:sp>
        <p:nvSpPr>
          <p:cNvPr id="25" name="Text 23"/>
          <p:cNvSpPr txBox="1"/>
          <p:nvPr/>
        </p:nvSpPr>
        <p:spPr>
          <a:xfrm>
            <a:off x="5047488" y="3063240"/>
            <a:ext cx="2066544" cy="365760"/>
          </a:xfrm>
          <a:prstGeom prst="rect">
            <a:avLst/>
          </a:prstGeom>
          <a:noFill/>
          <a:ln/>
        </p:spPr>
        <p:txBody>
          <a:bodyPr wrap="square" lIns="0" tIns="0" rIns="0" bIns="0" rtlCol="0" anchor="ctr"/>
          <a:lstStyle/>
          <a:p>
            <a:pPr indent="0" marL="0">
              <a:buNone/>
            </a:pPr>
            <a:r>
              <a:rPr lang="en-US" sz="1300" b="1" dirty="0">
                <a:solidFill>
                  <a:srgbClr val="F2A900"/>
                </a:solidFill>
                <a:latin typeface="Calibri" pitchFamily="34" charset="0"/>
                <a:ea typeface="Calibri" pitchFamily="34" charset="-122"/>
                <a:cs typeface="Calibri" pitchFamily="34" charset="-120"/>
              </a:rPr>
              <a:t>Fact_Sales</a:t>
            </a:r>
            <a:endParaRPr lang="en-US" sz="1300" dirty="0"/>
          </a:p>
        </p:txBody>
      </p:sp>
      <p:sp>
        <p:nvSpPr>
          <p:cNvPr id="26" name="Text 24"/>
          <p:cNvSpPr txBox="1"/>
          <p:nvPr/>
        </p:nvSpPr>
        <p:spPr>
          <a:xfrm>
            <a:off x="5047488" y="3483864"/>
            <a:ext cx="2066544" cy="960120"/>
          </a:xfrm>
          <a:prstGeom prst="rect">
            <a:avLst/>
          </a:prstGeom>
          <a:noFill/>
          <a:ln/>
        </p:spPr>
        <p:txBody>
          <a:bodyPr wrap="square" lIns="0" tIns="0" rIns="0" bIns="0" rtlCol="0" anchor="t"/>
          <a:lstStyle/>
          <a:p>
            <a:pPr indent="0" marL="0">
              <a:buNone/>
            </a:pPr>
            <a:r>
              <a:rPr lang="en-US" sz="1100" dirty="0">
                <a:solidFill>
                  <a:srgbClr val="D9C9E6"/>
                </a:solidFill>
                <a:latin typeface="Calibri" pitchFamily="34" charset="0"/>
                <a:ea typeface="Calibri" pitchFamily="34" charset="-122"/>
                <a:cs typeface="Calibri" pitchFamily="34" charset="-120"/>
              </a:rPr>
              <a:t>Order ID, Order Date, Quantity, Price + four foreign keys</a:t>
            </a:r>
            <a:endParaRPr lang="en-US" sz="1100" dirty="0"/>
          </a:p>
        </p:txBody>
      </p:sp>
      <p:sp>
        <p:nvSpPr>
          <p:cNvPr id="27" name="Text 25"/>
          <p:cNvSpPr txBox="1"/>
          <p:nvPr/>
        </p:nvSpPr>
        <p:spPr>
          <a:xfrm>
            <a:off x="5047488" y="3063240"/>
            <a:ext cx="2066544" cy="365760"/>
          </a:xfrm>
          <a:prstGeom prst="rect">
            <a:avLst/>
          </a:prstGeom>
          <a:noFill/>
          <a:ln/>
        </p:spPr>
        <p:txBody>
          <a:bodyPr wrap="square" lIns="0" tIns="0" rIns="0" bIns="0" rtlCol="0" anchor="ctr"/>
          <a:lstStyle/>
          <a:p>
            <a:pPr indent="0" marL="0">
              <a:buNone/>
            </a:pPr>
            <a:r>
              <a:rPr lang="en-US" sz="1300" b="1" dirty="0">
                <a:solidFill>
                  <a:srgbClr val="F2A900"/>
                </a:solidFill>
                <a:latin typeface="Calibri" pitchFamily="34" charset="0"/>
                <a:ea typeface="Calibri" pitchFamily="34" charset="-122"/>
                <a:cs typeface="Calibri" pitchFamily="34" charset="-120"/>
              </a:rPr>
              <a:t>Fact_Sales</a:t>
            </a:r>
            <a:endParaRPr lang="en-US" sz="1300" dirty="0"/>
          </a:p>
        </p:txBody>
      </p:sp>
      <p:sp>
        <p:nvSpPr>
          <p:cNvPr id="28" name="Shape 26"/>
          <p:cNvSpPr/>
          <p:nvPr/>
        </p:nvSpPr>
        <p:spPr>
          <a:xfrm>
            <a:off x="3246120" y="5257800"/>
            <a:ext cx="2286000" cy="822960"/>
          </a:xfrm>
          <a:prstGeom prst="roundRect">
            <a:avLst>
              <a:gd name="adj" fmla="val 11111"/>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29" name="Shape 27"/>
          <p:cNvSpPr/>
          <p:nvPr/>
        </p:nvSpPr>
        <p:spPr>
          <a:xfrm>
            <a:off x="3246120" y="5257800"/>
            <a:ext cx="2286000" cy="365760"/>
          </a:xfrm>
          <a:prstGeom prst="rect">
            <a:avLst/>
          </a:prstGeom>
          <a:solidFill>
            <a:srgbClr val="4B1D6B"/>
          </a:solidFill>
          <a:ln w="12700">
            <a:solidFill>
              <a:srgbClr val="4B1D6B"/>
            </a:solidFill>
            <a:prstDash val="solid"/>
          </a:ln>
        </p:spPr>
      </p:sp>
      <p:sp>
        <p:nvSpPr>
          <p:cNvPr id="30" name="Text 28"/>
          <p:cNvSpPr txBox="1"/>
          <p:nvPr/>
        </p:nvSpPr>
        <p:spPr>
          <a:xfrm>
            <a:off x="3355848" y="5257800"/>
            <a:ext cx="206654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Dim_Location</a:t>
            </a:r>
            <a:endParaRPr lang="en-US" sz="1300" dirty="0"/>
          </a:p>
        </p:txBody>
      </p:sp>
      <p:sp>
        <p:nvSpPr>
          <p:cNvPr id="31" name="Text 29"/>
          <p:cNvSpPr txBox="1"/>
          <p:nvPr/>
        </p:nvSpPr>
        <p:spPr>
          <a:xfrm>
            <a:off x="3355848" y="5678424"/>
            <a:ext cx="2066544" cy="365760"/>
          </a:xfrm>
          <a:prstGeom prst="rect">
            <a:avLst/>
          </a:prstGeom>
          <a:noFill/>
          <a:ln/>
        </p:spPr>
        <p:txBody>
          <a:bodyPr wrap="square" lIns="0" tIns="0" rIns="0" bIns="0" rtlCol="0" anchor="t"/>
          <a:lstStyle/>
          <a:p>
            <a:pPr indent="0" marL="0">
              <a:buNone/>
            </a:pPr>
            <a:r>
              <a:rPr lang="en-US" sz="1100" dirty="0">
                <a:solidFill>
                  <a:srgbClr val="2B2233"/>
                </a:solidFill>
                <a:latin typeface="Calibri" pitchFamily="34" charset="0"/>
                <a:ea typeface="Calibri" pitchFamily="34" charset="-122"/>
                <a:cs typeface="Calibri" pitchFamily="34" charset="-120"/>
              </a:rPr>
              <a:t>Location ID, Name, County, Population</a:t>
            </a:r>
            <a:endParaRPr lang="en-US" sz="1100" dirty="0"/>
          </a:p>
        </p:txBody>
      </p:sp>
      <p:sp>
        <p:nvSpPr>
          <p:cNvPr id="32" name="Shape 30"/>
          <p:cNvSpPr/>
          <p:nvPr/>
        </p:nvSpPr>
        <p:spPr>
          <a:xfrm>
            <a:off x="6675120" y="5257800"/>
            <a:ext cx="2286000" cy="822960"/>
          </a:xfrm>
          <a:prstGeom prst="roundRect">
            <a:avLst>
              <a:gd name="adj" fmla="val 11111"/>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33" name="Shape 31"/>
          <p:cNvSpPr/>
          <p:nvPr/>
        </p:nvSpPr>
        <p:spPr>
          <a:xfrm>
            <a:off x="6675120" y="5257800"/>
            <a:ext cx="2286000" cy="365760"/>
          </a:xfrm>
          <a:prstGeom prst="rect">
            <a:avLst/>
          </a:prstGeom>
          <a:solidFill>
            <a:srgbClr val="4B1D6B"/>
          </a:solidFill>
          <a:ln w="12700">
            <a:solidFill>
              <a:srgbClr val="4B1D6B"/>
            </a:solidFill>
            <a:prstDash val="solid"/>
          </a:ln>
        </p:spPr>
      </p:sp>
      <p:sp>
        <p:nvSpPr>
          <p:cNvPr id="34" name="Text 32"/>
          <p:cNvSpPr txBox="1"/>
          <p:nvPr/>
        </p:nvSpPr>
        <p:spPr>
          <a:xfrm>
            <a:off x="6784848" y="5257800"/>
            <a:ext cx="206654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Dim_Date</a:t>
            </a:r>
            <a:endParaRPr lang="en-US" sz="1300" dirty="0"/>
          </a:p>
        </p:txBody>
      </p:sp>
      <p:sp>
        <p:nvSpPr>
          <p:cNvPr id="35" name="Text 33"/>
          <p:cNvSpPr txBox="1"/>
          <p:nvPr/>
        </p:nvSpPr>
        <p:spPr>
          <a:xfrm>
            <a:off x="6784848" y="5678424"/>
            <a:ext cx="2066544" cy="365760"/>
          </a:xfrm>
          <a:prstGeom prst="rect">
            <a:avLst/>
          </a:prstGeom>
          <a:noFill/>
          <a:ln/>
        </p:spPr>
        <p:txBody>
          <a:bodyPr wrap="square" lIns="0" tIns="0" rIns="0" bIns="0" rtlCol="0" anchor="t"/>
          <a:lstStyle/>
          <a:p>
            <a:pPr indent="0" marL="0">
              <a:buNone/>
            </a:pPr>
            <a:r>
              <a:rPr lang="en-US" sz="1100" dirty="0">
                <a:solidFill>
                  <a:srgbClr val="2B2233"/>
                </a:solidFill>
                <a:latin typeface="Calibri" pitchFamily="34" charset="0"/>
                <a:ea typeface="Calibri" pitchFamily="34" charset="-122"/>
                <a:cs typeface="Calibri" pitchFamily="34" charset="-120"/>
              </a:rPr>
              <a:t>Date, Year, Quarter, Month, Week</a:t>
            </a:r>
            <a:endParaRPr lang="en-US" sz="1100" dirty="0"/>
          </a:p>
        </p:txBody>
      </p:sp>
      <p:sp>
        <p:nvSpPr>
          <p:cNvPr id="36" name="Shape 34"/>
          <p:cNvSpPr/>
          <p:nvPr/>
        </p:nvSpPr>
        <p:spPr>
          <a:xfrm>
            <a:off x="457200" y="5257800"/>
            <a:ext cx="2011680" cy="822960"/>
          </a:xfrm>
          <a:prstGeom prst="roundRect">
            <a:avLst>
              <a:gd name="adj" fmla="val 11111"/>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37" name="Shape 35"/>
          <p:cNvSpPr/>
          <p:nvPr/>
        </p:nvSpPr>
        <p:spPr>
          <a:xfrm>
            <a:off x="457200" y="5257800"/>
            <a:ext cx="2011680" cy="365760"/>
          </a:xfrm>
          <a:prstGeom prst="rect">
            <a:avLst/>
          </a:prstGeom>
          <a:solidFill>
            <a:srgbClr val="7B3FA0"/>
          </a:solidFill>
          <a:ln w="12700">
            <a:solidFill>
              <a:srgbClr val="7B3FA0"/>
            </a:solidFill>
            <a:prstDash val="solid"/>
          </a:ln>
        </p:spPr>
      </p:sp>
      <p:sp>
        <p:nvSpPr>
          <p:cNvPr id="38" name="Text 36"/>
          <p:cNvSpPr txBox="1"/>
          <p:nvPr/>
        </p:nvSpPr>
        <p:spPr>
          <a:xfrm>
            <a:off x="566928" y="5257800"/>
            <a:ext cx="179222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Dim_BudgetLocation</a:t>
            </a:r>
            <a:endParaRPr lang="en-US" sz="1300" dirty="0"/>
          </a:p>
        </p:txBody>
      </p:sp>
      <p:sp>
        <p:nvSpPr>
          <p:cNvPr id="39" name="Text 37"/>
          <p:cNvSpPr txBox="1"/>
          <p:nvPr/>
        </p:nvSpPr>
        <p:spPr>
          <a:xfrm>
            <a:off x="566928" y="5678424"/>
            <a:ext cx="1792224" cy="365760"/>
          </a:xfrm>
          <a:prstGeom prst="rect">
            <a:avLst/>
          </a:prstGeom>
          <a:noFill/>
          <a:ln/>
        </p:spPr>
        <p:txBody>
          <a:bodyPr wrap="square" lIns="0" tIns="0" rIns="0" bIns="0" rtlCol="0" anchor="t"/>
          <a:lstStyle/>
          <a:p>
            <a:pPr indent="0" marL="0">
              <a:buNone/>
            </a:pPr>
            <a:r>
              <a:rPr lang="en-US" sz="1100" dirty="0">
                <a:solidFill>
                  <a:srgbClr val="2B2233"/>
                </a:solidFill>
                <a:latin typeface="Calibri" pitchFamily="34" charset="0"/>
                <a:ea typeface="Calibri" pitchFamily="34" charset="-122"/>
                <a:cs typeface="Calibri" pitchFamily="34" charset="-120"/>
              </a:rPr>
              <a:t>Location ID, Annual Budget</a:t>
            </a:r>
            <a:endParaRPr lang="en-US" sz="1100" dirty="0"/>
          </a:p>
        </p:txBody>
      </p:sp>
      <p:sp>
        <p:nvSpPr>
          <p:cNvPr id="40" name="Shape 38"/>
          <p:cNvSpPr/>
          <p:nvPr/>
        </p:nvSpPr>
        <p:spPr>
          <a:xfrm>
            <a:off x="9738360" y="5257800"/>
            <a:ext cx="2011680" cy="822960"/>
          </a:xfrm>
          <a:prstGeom prst="roundRect">
            <a:avLst>
              <a:gd name="adj" fmla="val 11111"/>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41" name="Shape 39"/>
          <p:cNvSpPr/>
          <p:nvPr/>
        </p:nvSpPr>
        <p:spPr>
          <a:xfrm>
            <a:off x="9738360" y="5257800"/>
            <a:ext cx="2011680" cy="365760"/>
          </a:xfrm>
          <a:prstGeom prst="rect">
            <a:avLst/>
          </a:prstGeom>
          <a:solidFill>
            <a:srgbClr val="7B3FA0"/>
          </a:solidFill>
          <a:ln w="12700">
            <a:solidFill>
              <a:srgbClr val="7B3FA0"/>
            </a:solidFill>
            <a:prstDash val="solid"/>
          </a:ln>
        </p:spPr>
      </p:sp>
      <p:sp>
        <p:nvSpPr>
          <p:cNvPr id="42" name="Text 40"/>
          <p:cNvSpPr txBox="1"/>
          <p:nvPr/>
        </p:nvSpPr>
        <p:spPr>
          <a:xfrm>
            <a:off x="9848088" y="5257800"/>
            <a:ext cx="1792224"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Dim_BudgetSeasonality</a:t>
            </a:r>
            <a:endParaRPr lang="en-US" sz="1300" dirty="0"/>
          </a:p>
        </p:txBody>
      </p:sp>
      <p:sp>
        <p:nvSpPr>
          <p:cNvPr id="43" name="Text 41"/>
          <p:cNvSpPr txBox="1"/>
          <p:nvPr/>
        </p:nvSpPr>
        <p:spPr>
          <a:xfrm>
            <a:off x="9848088" y="5678424"/>
            <a:ext cx="1792224" cy="365760"/>
          </a:xfrm>
          <a:prstGeom prst="rect">
            <a:avLst/>
          </a:prstGeom>
          <a:noFill/>
          <a:ln/>
        </p:spPr>
        <p:txBody>
          <a:bodyPr wrap="square" lIns="0" tIns="0" rIns="0" bIns="0" rtlCol="0" anchor="t"/>
          <a:lstStyle/>
          <a:p>
            <a:pPr indent="0" marL="0">
              <a:buNone/>
            </a:pPr>
            <a:r>
              <a:rPr lang="en-US" sz="1100" dirty="0">
                <a:solidFill>
                  <a:srgbClr val="2B2233"/>
                </a:solidFill>
                <a:latin typeface="Calibri" pitchFamily="34" charset="0"/>
                <a:ea typeface="Calibri" pitchFamily="34" charset="-122"/>
                <a:cs typeface="Calibri" pitchFamily="34" charset="-120"/>
              </a:rPr>
              <a:t>Month Number, Allocation %</a:t>
            </a:r>
            <a:endParaRPr lang="en-US" sz="1100" dirty="0"/>
          </a:p>
        </p:txBody>
      </p:sp>
      <p:sp>
        <p:nvSpPr>
          <p:cNvPr id="44" name="Text 42"/>
          <p:cNvSpPr txBox="1"/>
          <p:nvPr/>
        </p:nvSpPr>
        <p:spPr>
          <a:xfrm>
            <a:off x="548640" y="6263640"/>
            <a:ext cx="11064240" cy="365760"/>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One-to-many, single direction. Budget tables link to Location (1:1) and Date.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DAX: measures, not columns</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Every KPI recalculates for whatever the user has filtered</a:t>
            </a:r>
            <a:endParaRPr lang="en-US" sz="1600" dirty="0"/>
          </a:p>
        </p:txBody>
      </p:sp>
      <p:sp>
        <p:nvSpPr>
          <p:cNvPr id="4" name="Shape 2"/>
          <p:cNvSpPr/>
          <p:nvPr/>
        </p:nvSpPr>
        <p:spPr>
          <a:xfrm>
            <a:off x="548640" y="1645920"/>
            <a:ext cx="4206240" cy="4480560"/>
          </a:xfrm>
          <a:prstGeom prst="roundRect">
            <a:avLst>
              <a:gd name="adj" fmla="val 217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22960" y="1874520"/>
            <a:ext cx="3657600" cy="274320"/>
          </a:xfrm>
          <a:prstGeom prst="rect">
            <a:avLst/>
          </a:prstGeom>
          <a:noFill/>
          <a:ln/>
        </p:spPr>
        <p:txBody>
          <a:bodyPr wrap="square" lIns="0" tIns="0" rIns="0" bIns="0" rtlCol="0" anchor="t"/>
          <a:lstStyle/>
          <a:p>
            <a:pPr indent="0" marL="0">
              <a:buNone/>
            </a:pPr>
            <a:r>
              <a:rPr lang="en-US" sz="1600" b="1" dirty="0">
                <a:solidFill>
                  <a:srgbClr val="4B1D6B"/>
                </a:solidFill>
                <a:latin typeface="Calibri" pitchFamily="34" charset="0"/>
                <a:ea typeface="Calibri" pitchFamily="34" charset="-122"/>
                <a:cs typeface="Calibri" pitchFamily="34" charset="-120"/>
              </a:rPr>
              <a:t>Sales</a:t>
            </a:r>
            <a:endParaRPr lang="en-US" sz="1600" dirty="0"/>
          </a:p>
        </p:txBody>
      </p:sp>
      <p:sp>
        <p:nvSpPr>
          <p:cNvPr id="6" name="Text 4"/>
          <p:cNvSpPr txBox="1"/>
          <p:nvPr/>
        </p:nvSpPr>
        <p:spPr>
          <a:xfrm>
            <a:off x="822960" y="2176272"/>
            <a:ext cx="3657600" cy="45720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Total Sales, Orders, Quantity, AOV, Average Price</a:t>
            </a:r>
            <a:endParaRPr lang="en-US" sz="1300" dirty="0"/>
          </a:p>
        </p:txBody>
      </p:sp>
      <p:sp>
        <p:nvSpPr>
          <p:cNvPr id="7" name="Text 5"/>
          <p:cNvSpPr txBox="1"/>
          <p:nvPr/>
        </p:nvSpPr>
        <p:spPr>
          <a:xfrm>
            <a:off x="822960" y="2715768"/>
            <a:ext cx="3657600" cy="274320"/>
          </a:xfrm>
          <a:prstGeom prst="rect">
            <a:avLst/>
          </a:prstGeom>
          <a:noFill/>
          <a:ln/>
        </p:spPr>
        <p:txBody>
          <a:bodyPr wrap="square" lIns="0" tIns="0" rIns="0" bIns="0" rtlCol="0" anchor="t"/>
          <a:lstStyle/>
          <a:p>
            <a:pPr indent="0" marL="0">
              <a:buNone/>
            </a:pPr>
            <a:r>
              <a:rPr lang="en-US" sz="1600" b="1" dirty="0">
                <a:solidFill>
                  <a:srgbClr val="4B1D6B"/>
                </a:solidFill>
                <a:latin typeface="Calibri" pitchFamily="34" charset="0"/>
                <a:ea typeface="Calibri" pitchFamily="34" charset="-122"/>
                <a:cs typeface="Calibri" pitchFamily="34" charset="-120"/>
              </a:rPr>
              <a:t>Profit</a:t>
            </a:r>
            <a:endParaRPr lang="en-US" sz="1600" dirty="0"/>
          </a:p>
        </p:txBody>
      </p:sp>
      <p:sp>
        <p:nvSpPr>
          <p:cNvPr id="8" name="Text 6"/>
          <p:cNvSpPr txBox="1"/>
          <p:nvPr/>
        </p:nvSpPr>
        <p:spPr>
          <a:xfrm>
            <a:off x="822960" y="3017520"/>
            <a:ext cx="3657600" cy="45720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Cost, Gross Profit, Margin %, per-unit values</a:t>
            </a:r>
            <a:endParaRPr lang="en-US" sz="1300" dirty="0"/>
          </a:p>
        </p:txBody>
      </p:sp>
      <p:sp>
        <p:nvSpPr>
          <p:cNvPr id="9" name="Text 7"/>
          <p:cNvSpPr txBox="1"/>
          <p:nvPr/>
        </p:nvSpPr>
        <p:spPr>
          <a:xfrm>
            <a:off x="822960" y="3557016"/>
            <a:ext cx="3657600" cy="274320"/>
          </a:xfrm>
          <a:prstGeom prst="rect">
            <a:avLst/>
          </a:prstGeom>
          <a:noFill/>
          <a:ln/>
        </p:spPr>
        <p:txBody>
          <a:bodyPr wrap="square" lIns="0" tIns="0" rIns="0" bIns="0" rtlCol="0" anchor="t"/>
          <a:lstStyle/>
          <a:p>
            <a:pPr indent="0" marL="0">
              <a:buNone/>
            </a:pPr>
            <a:r>
              <a:rPr lang="en-US" sz="1600" b="1" dirty="0">
                <a:solidFill>
                  <a:srgbClr val="4B1D6B"/>
                </a:solidFill>
                <a:latin typeface="Calibri" pitchFamily="34" charset="0"/>
                <a:ea typeface="Calibri" pitchFamily="34" charset="-122"/>
                <a:cs typeface="Calibri" pitchFamily="34" charset="-120"/>
              </a:rPr>
              <a:t>Time</a:t>
            </a:r>
            <a:endParaRPr lang="en-US" sz="1600" dirty="0"/>
          </a:p>
        </p:txBody>
      </p:sp>
      <p:sp>
        <p:nvSpPr>
          <p:cNvPr id="10" name="Text 8"/>
          <p:cNvSpPr txBox="1"/>
          <p:nvPr/>
        </p:nvSpPr>
        <p:spPr>
          <a:xfrm>
            <a:off x="822960" y="3858768"/>
            <a:ext cx="3657600" cy="45720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Previous Year, YoY %, MTD, YTD, DATEADD</a:t>
            </a:r>
            <a:endParaRPr lang="en-US" sz="1300" dirty="0"/>
          </a:p>
        </p:txBody>
      </p:sp>
      <p:sp>
        <p:nvSpPr>
          <p:cNvPr id="11" name="Text 9"/>
          <p:cNvSpPr txBox="1"/>
          <p:nvPr/>
        </p:nvSpPr>
        <p:spPr>
          <a:xfrm>
            <a:off x="822960" y="4398264"/>
            <a:ext cx="3657600" cy="274320"/>
          </a:xfrm>
          <a:prstGeom prst="rect">
            <a:avLst/>
          </a:prstGeom>
          <a:noFill/>
          <a:ln/>
        </p:spPr>
        <p:txBody>
          <a:bodyPr wrap="square" lIns="0" tIns="0" rIns="0" bIns="0" rtlCol="0" anchor="t"/>
          <a:lstStyle/>
          <a:p>
            <a:pPr indent="0" marL="0">
              <a:buNone/>
            </a:pPr>
            <a:r>
              <a:rPr lang="en-US" sz="1600" b="1" dirty="0">
                <a:solidFill>
                  <a:srgbClr val="4B1D6B"/>
                </a:solidFill>
                <a:latin typeface="Calibri" pitchFamily="34" charset="0"/>
                <a:ea typeface="Calibri" pitchFamily="34" charset="-122"/>
                <a:cs typeface="Calibri" pitchFamily="34" charset="-120"/>
              </a:rPr>
              <a:t>Budget</a:t>
            </a:r>
            <a:endParaRPr lang="en-US" sz="1600" dirty="0"/>
          </a:p>
        </p:txBody>
      </p:sp>
      <p:sp>
        <p:nvSpPr>
          <p:cNvPr id="12" name="Text 10"/>
          <p:cNvSpPr txBox="1"/>
          <p:nvPr/>
        </p:nvSpPr>
        <p:spPr>
          <a:xfrm>
            <a:off x="822960" y="4700016"/>
            <a:ext cx="3657600" cy="45720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Budget, Variance, Achievement %</a:t>
            </a:r>
            <a:endParaRPr lang="en-US" sz="1300" dirty="0"/>
          </a:p>
        </p:txBody>
      </p:sp>
      <p:sp>
        <p:nvSpPr>
          <p:cNvPr id="13" name="Text 11"/>
          <p:cNvSpPr txBox="1"/>
          <p:nvPr/>
        </p:nvSpPr>
        <p:spPr>
          <a:xfrm>
            <a:off x="822960" y="5239512"/>
            <a:ext cx="3657600" cy="274320"/>
          </a:xfrm>
          <a:prstGeom prst="rect">
            <a:avLst/>
          </a:prstGeom>
          <a:noFill/>
          <a:ln/>
        </p:spPr>
        <p:txBody>
          <a:bodyPr wrap="square" lIns="0" tIns="0" rIns="0" bIns="0" rtlCol="0" anchor="t"/>
          <a:lstStyle/>
          <a:p>
            <a:pPr indent="0" marL="0">
              <a:buNone/>
            </a:pPr>
            <a:r>
              <a:rPr lang="en-US" sz="1600" b="1" dirty="0">
                <a:solidFill>
                  <a:srgbClr val="4B1D6B"/>
                </a:solidFill>
                <a:latin typeface="Calibri" pitchFamily="34" charset="0"/>
                <a:ea typeface="Calibri" pitchFamily="34" charset="-122"/>
                <a:cs typeface="Calibri" pitchFamily="34" charset="-120"/>
              </a:rPr>
              <a:t>Advanced</a:t>
            </a:r>
            <a:endParaRPr lang="en-US" sz="1600" dirty="0"/>
          </a:p>
        </p:txBody>
      </p:sp>
      <p:sp>
        <p:nvSpPr>
          <p:cNvPr id="14" name="Text 12"/>
          <p:cNvSpPr txBox="1"/>
          <p:nvPr/>
        </p:nvSpPr>
        <p:spPr>
          <a:xfrm>
            <a:off x="822960" y="5541264"/>
            <a:ext cx="3657600" cy="45720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RANKX, TOPN, running total, dynamic Top N</a:t>
            </a:r>
            <a:endParaRPr lang="en-US" sz="1300" dirty="0"/>
          </a:p>
        </p:txBody>
      </p:sp>
      <p:sp>
        <p:nvSpPr>
          <p:cNvPr id="15" name="Shape 13"/>
          <p:cNvSpPr/>
          <p:nvPr/>
        </p:nvSpPr>
        <p:spPr>
          <a:xfrm>
            <a:off x="5029200" y="1645920"/>
            <a:ext cx="6583680" cy="3017520"/>
          </a:xfrm>
          <a:prstGeom prst="roundRect">
            <a:avLst>
              <a:gd name="adj" fmla="val 3030"/>
            </a:avLst>
          </a:prstGeom>
          <a:solidFill>
            <a:srgbClr val="2E0F45"/>
          </a:solidFill>
          <a:ln w="12700">
            <a:solidFill>
              <a:srgbClr val="2E0F45"/>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5303520" y="1828800"/>
            <a:ext cx="6126480" cy="2651760"/>
          </a:xfrm>
          <a:prstGeom prst="rect">
            <a:avLst/>
          </a:prstGeom>
          <a:noFill/>
          <a:ln/>
        </p:spPr>
        <p:txBody>
          <a:bodyPr wrap="square" lIns="0" tIns="0" rIns="0" bIns="0" rtlCol="0" anchor="t"/>
          <a:lstStyle/>
          <a:p>
            <a:pPr indent="0" marL="0">
              <a:buNone/>
            </a:pPr>
            <a:r>
              <a:rPr lang="en-US" sz="1200" dirty="0">
                <a:solidFill>
                  <a:srgbClr val="EDE4F3"/>
                </a:solidFill>
                <a:latin typeface="Courier New" pitchFamily="34" charset="0"/>
                <a:ea typeface="Courier New" pitchFamily="34" charset="-122"/>
                <a:cs typeface="Courier New" pitchFamily="34" charset="-120"/>
              </a:rPr>
              <a:t>Total Sales =</a:t>
            </a:r>
            <a:endParaRPr lang="en-US" sz="1200" dirty="0"/>
          </a:p>
          <a:p>
            <a:pPr indent="0" marL="0">
              <a:buNone/>
            </a:pPr>
            <a:r>
              <a:rPr lang="en-US" sz="1200" dirty="0">
                <a:solidFill>
                  <a:srgbClr val="EDE4F3"/>
                </a:solidFill>
                <a:latin typeface="Courier New" pitchFamily="34" charset="0"/>
                <a:ea typeface="Courier New" pitchFamily="34" charset="-122"/>
                <a:cs typeface="Courier New" pitchFamily="34" charset="-120"/>
              </a:rPr>
              <a:t>  SUMX(Fact_Sales, Fact_Sales[Quantity] * Fact_Sales[Price])</a:t>
            </a:r>
            <a:endParaRPr lang="en-US" sz="1200" dirty="0"/>
          </a:p>
          <a:p>
            <a:pPr indent="0" marL="0">
              <a:buNone/>
            </a:pPr>
            <a:endParaRPr lang="en-US" sz="1200" dirty="0"/>
          </a:p>
          <a:p>
            <a:pPr indent="0" marL="0">
              <a:buNone/>
            </a:pPr>
            <a:r>
              <a:rPr lang="en-US" sz="1200" dirty="0">
                <a:solidFill>
                  <a:srgbClr val="EDE4F3"/>
                </a:solidFill>
                <a:latin typeface="Courier New" pitchFamily="34" charset="0"/>
                <a:ea typeface="Courier New" pitchFamily="34" charset="-122"/>
                <a:cs typeface="Courier New" pitchFamily="34" charset="-120"/>
              </a:rPr>
              <a:t>Gross Margin % = DIVIDE([Gross Profit], [Total Sales])</a:t>
            </a:r>
            <a:endParaRPr lang="en-US" sz="1200" dirty="0"/>
          </a:p>
          <a:p>
            <a:pPr indent="0" marL="0">
              <a:buNone/>
            </a:pPr>
            <a:endParaRPr lang="en-US" sz="1200" dirty="0"/>
          </a:p>
          <a:p>
            <a:pPr indent="0" marL="0">
              <a:buNone/>
            </a:pPr>
            <a:r>
              <a:rPr lang="en-US" sz="1200" dirty="0">
                <a:solidFill>
                  <a:srgbClr val="EDE4F3"/>
                </a:solidFill>
                <a:latin typeface="Courier New" pitchFamily="34" charset="0"/>
                <a:ea typeface="Courier New" pitchFamily="34" charset="-122"/>
                <a:cs typeface="Courier New" pitchFamily="34" charset="-120"/>
              </a:rPr>
              <a:t>Previous Year Sales =</a:t>
            </a:r>
            <a:endParaRPr lang="en-US" sz="1200" dirty="0"/>
          </a:p>
          <a:p>
            <a:pPr indent="0" marL="0">
              <a:buNone/>
            </a:pPr>
            <a:r>
              <a:rPr lang="en-US" sz="1200" dirty="0">
                <a:solidFill>
                  <a:srgbClr val="EDE4F3"/>
                </a:solidFill>
                <a:latin typeface="Courier New" pitchFamily="34" charset="0"/>
                <a:ea typeface="Courier New" pitchFamily="34" charset="-122"/>
                <a:cs typeface="Courier New" pitchFamily="34" charset="-120"/>
              </a:rPr>
              <a:t>  CALCULATE([Total Sales], SAMEPERIODLASTYEAR(Dim_Date[Date]))</a:t>
            </a:r>
            <a:endParaRPr lang="en-US" sz="1200" dirty="0"/>
          </a:p>
          <a:p>
            <a:pPr indent="0" marL="0">
              <a:buNone/>
            </a:pPr>
            <a:endParaRPr lang="en-US" sz="1200" dirty="0"/>
          </a:p>
          <a:p>
            <a:pPr indent="0" marL="0">
              <a:buNone/>
            </a:pPr>
            <a:r>
              <a:rPr lang="en-US" sz="1200" dirty="0">
                <a:solidFill>
                  <a:srgbClr val="EDE4F3"/>
                </a:solidFill>
                <a:latin typeface="Courier New" pitchFamily="34" charset="0"/>
                <a:ea typeface="Courier New" pitchFamily="34" charset="-122"/>
                <a:cs typeface="Courier New" pitchFamily="34" charset="-120"/>
              </a:rPr>
              <a:t>Budget Achievement % = DIVIDE([Actual Sales], [Budget])</a:t>
            </a:r>
            <a:endParaRPr lang="en-US" sz="1200" dirty="0"/>
          </a:p>
        </p:txBody>
      </p:sp>
      <p:sp>
        <p:nvSpPr>
          <p:cNvPr id="17" name="Shape 15"/>
          <p:cNvSpPr/>
          <p:nvPr/>
        </p:nvSpPr>
        <p:spPr>
          <a:xfrm>
            <a:off x="5029200" y="4892040"/>
            <a:ext cx="6583680" cy="1234440"/>
          </a:xfrm>
          <a:prstGeom prst="roundRect">
            <a:avLst>
              <a:gd name="adj" fmla="val 7407"/>
            </a:avLst>
          </a:prstGeom>
          <a:solidFill>
            <a:srgbClr val="F4EEF8"/>
          </a:solidFill>
          <a:ln w="12700">
            <a:solidFill>
              <a:srgbClr val="F4EEF8"/>
            </a:solidFill>
            <a:prstDash val="solid"/>
          </a:ln>
        </p:spPr>
      </p:sp>
      <p:sp>
        <p:nvSpPr>
          <p:cNvPr id="18" name="Text 16"/>
          <p:cNvSpPr txBox="1"/>
          <p:nvPr/>
        </p:nvSpPr>
        <p:spPr>
          <a:xfrm>
            <a:off x="5257800" y="5029200"/>
            <a:ext cx="6126480" cy="1005840"/>
          </a:xfrm>
          <a:prstGeom prst="rect">
            <a:avLst/>
          </a:prstGeom>
          <a:noFill/>
          <a:ln/>
        </p:spPr>
        <p:txBody>
          <a:bodyPr wrap="square" lIns="0" tIns="0" rIns="0" bIns="0" rtlCol="0" anchor="ctr"/>
          <a:lstStyle/>
          <a:p>
            <a:pPr indent="0" marL="0">
              <a:buNone/>
            </a:pPr>
            <a:r>
              <a:rPr lang="en-US" sz="1400" b="1" dirty="0">
                <a:solidFill>
                  <a:srgbClr val="4B1D6B"/>
                </a:solidFill>
                <a:latin typeface="Calibri" pitchFamily="34" charset="0"/>
                <a:ea typeface="Calibri" pitchFamily="34" charset="-122"/>
                <a:cs typeface="Calibri" pitchFamily="34" charset="-120"/>
              </a:rPr>
              <a:t>Column or measure? </a:t>
            </a:r>
            <a:pPr indent="0" marL="0">
              <a:buNone/>
            </a:pPr>
            <a:r>
              <a:rPr lang="en-US" sz="1400" dirty="0">
                <a:solidFill>
                  <a:srgbClr val="2B2233"/>
                </a:solidFill>
                <a:latin typeface="Calibri" pitchFamily="34" charset="0"/>
                <a:ea typeface="Calibri" pitchFamily="34" charset="-122"/>
                <a:cs typeface="Calibri" pitchFamily="34" charset="-120"/>
              </a:rPr>
              <a:t>A calculated column is computed once per row and stored. A measure is computed on demand, so it responds to slicers. All KPIs here are measures.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Executive overview: profitable but flat</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Revenue slipped 1.1% in 2022 and 2023 has only 2.5 months of data</a:t>
            </a:r>
            <a:endParaRPr lang="en-US" sz="1600" dirty="0"/>
          </a:p>
        </p:txBody>
      </p:sp>
      <p:graphicFrame>
        <p:nvGraphicFramePr>
          <p:cNvPr id="4" name="Chart 0" descr=""/>
          <p:cNvGraphicFramePr/>
          <p:nvPr/>
        </p:nvGraphicFramePr>
        <p:xfrm>
          <a:off x="548640" y="164592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89520" y="1645920"/>
            <a:ext cx="4023360" cy="1005840"/>
          </a:xfrm>
          <a:prstGeom prst="roundRect">
            <a:avLst>
              <a:gd name="adj" fmla="val 9091"/>
            </a:avLst>
          </a:prstGeom>
          <a:solidFill>
            <a:srgbClr val="F4EEF8"/>
          </a:solidFill>
          <a:ln w="12700">
            <a:solidFill>
              <a:srgbClr val="F4EEF8"/>
            </a:solidFill>
            <a:prstDash val="solid"/>
          </a:ln>
        </p:spPr>
      </p:sp>
      <p:sp>
        <p:nvSpPr>
          <p:cNvPr id="6" name="Text 3"/>
          <p:cNvSpPr txBox="1"/>
          <p:nvPr/>
        </p:nvSpPr>
        <p:spPr>
          <a:xfrm>
            <a:off x="7818120" y="1783080"/>
            <a:ext cx="3566160" cy="422453"/>
          </a:xfrm>
          <a:prstGeom prst="rect">
            <a:avLst/>
          </a:prstGeom>
          <a:noFill/>
          <a:ln/>
        </p:spPr>
        <p:txBody>
          <a:bodyPr wrap="square" lIns="0" tIns="0" rIns="0" bIns="0" rtlCol="0" anchor="ctr"/>
          <a:lstStyle/>
          <a:p>
            <a:pPr indent="0" marL="0">
              <a:buNone/>
            </a:pPr>
            <a:r>
              <a:rPr lang="en-US" sz="2600" b="1" dirty="0">
                <a:solidFill>
                  <a:srgbClr val="4B1D6B"/>
                </a:solidFill>
                <a:latin typeface="Cambria" pitchFamily="34" charset="0"/>
                <a:ea typeface="Cambria" pitchFamily="34" charset="-122"/>
                <a:cs typeface="Cambria" pitchFamily="34" charset="-120"/>
              </a:rPr>
              <a:t>₹8.34M</a:t>
            </a:r>
            <a:endParaRPr lang="en-US" sz="2600" dirty="0"/>
          </a:p>
        </p:txBody>
      </p:sp>
      <p:sp>
        <p:nvSpPr>
          <p:cNvPr id="7" name="Text 4"/>
          <p:cNvSpPr txBox="1"/>
          <p:nvPr/>
        </p:nvSpPr>
        <p:spPr>
          <a:xfrm>
            <a:off x="7818120" y="2205533"/>
            <a:ext cx="3566160" cy="241402"/>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Gross profit</a:t>
            </a:r>
            <a:endParaRPr lang="en-US" sz="1400" dirty="0"/>
          </a:p>
        </p:txBody>
      </p:sp>
      <p:sp>
        <p:nvSpPr>
          <p:cNvPr id="8" name="Shape 5"/>
          <p:cNvSpPr/>
          <p:nvPr/>
        </p:nvSpPr>
        <p:spPr>
          <a:xfrm>
            <a:off x="7589520" y="2788920"/>
            <a:ext cx="4023360" cy="1005840"/>
          </a:xfrm>
          <a:prstGeom prst="roundRect">
            <a:avLst>
              <a:gd name="adj" fmla="val 9091"/>
            </a:avLst>
          </a:prstGeom>
          <a:solidFill>
            <a:srgbClr val="F4EEF8"/>
          </a:solidFill>
          <a:ln w="12700">
            <a:solidFill>
              <a:srgbClr val="F4EEF8"/>
            </a:solidFill>
            <a:prstDash val="solid"/>
          </a:ln>
        </p:spPr>
      </p:sp>
      <p:sp>
        <p:nvSpPr>
          <p:cNvPr id="9" name="Text 6"/>
          <p:cNvSpPr txBox="1"/>
          <p:nvPr/>
        </p:nvSpPr>
        <p:spPr>
          <a:xfrm>
            <a:off x="7818120" y="2926080"/>
            <a:ext cx="3566160" cy="422453"/>
          </a:xfrm>
          <a:prstGeom prst="rect">
            <a:avLst/>
          </a:prstGeom>
          <a:noFill/>
          <a:ln/>
        </p:spPr>
        <p:txBody>
          <a:bodyPr wrap="square" lIns="0" tIns="0" rIns="0" bIns="0" rtlCol="0" anchor="ctr"/>
          <a:lstStyle/>
          <a:p>
            <a:pPr indent="0" marL="0">
              <a:buNone/>
            </a:pPr>
            <a:r>
              <a:rPr lang="en-US" sz="2600" b="1" dirty="0">
                <a:solidFill>
                  <a:srgbClr val="4B1D6B"/>
                </a:solidFill>
                <a:latin typeface="Cambria" pitchFamily="34" charset="0"/>
                <a:ea typeface="Cambria" pitchFamily="34" charset="-122"/>
                <a:cs typeface="Cambria" pitchFamily="34" charset="-120"/>
              </a:rPr>
              <a:t>32.5%</a:t>
            </a:r>
            <a:endParaRPr lang="en-US" sz="2600" dirty="0"/>
          </a:p>
        </p:txBody>
      </p:sp>
      <p:sp>
        <p:nvSpPr>
          <p:cNvPr id="10" name="Text 7"/>
          <p:cNvSpPr txBox="1"/>
          <p:nvPr/>
        </p:nvSpPr>
        <p:spPr>
          <a:xfrm>
            <a:off x="7818120" y="3348533"/>
            <a:ext cx="3566160" cy="241402"/>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Gross margin, steady each year</a:t>
            </a:r>
            <a:endParaRPr lang="en-US" sz="1400" dirty="0"/>
          </a:p>
        </p:txBody>
      </p:sp>
      <p:sp>
        <p:nvSpPr>
          <p:cNvPr id="11" name="Shape 8"/>
          <p:cNvSpPr/>
          <p:nvPr/>
        </p:nvSpPr>
        <p:spPr>
          <a:xfrm>
            <a:off x="7589520" y="3931920"/>
            <a:ext cx="4023360" cy="1005840"/>
          </a:xfrm>
          <a:prstGeom prst="roundRect">
            <a:avLst>
              <a:gd name="adj" fmla="val 9091"/>
            </a:avLst>
          </a:prstGeom>
          <a:solidFill>
            <a:srgbClr val="F4EEF8"/>
          </a:solidFill>
          <a:ln w="12700">
            <a:solidFill>
              <a:srgbClr val="F4EEF8"/>
            </a:solidFill>
            <a:prstDash val="solid"/>
          </a:ln>
        </p:spPr>
      </p:sp>
      <p:sp>
        <p:nvSpPr>
          <p:cNvPr id="12" name="Text 9"/>
          <p:cNvSpPr txBox="1"/>
          <p:nvPr/>
        </p:nvSpPr>
        <p:spPr>
          <a:xfrm>
            <a:off x="7818120" y="4069080"/>
            <a:ext cx="3566160" cy="422453"/>
          </a:xfrm>
          <a:prstGeom prst="rect">
            <a:avLst/>
          </a:prstGeom>
          <a:noFill/>
          <a:ln/>
        </p:spPr>
        <p:txBody>
          <a:bodyPr wrap="square" lIns="0" tIns="0" rIns="0" bIns="0" rtlCol="0" anchor="ctr"/>
          <a:lstStyle/>
          <a:p>
            <a:pPr indent="0" marL="0">
              <a:buNone/>
            </a:pPr>
            <a:r>
              <a:rPr lang="en-US" sz="2600" b="1" dirty="0">
                <a:solidFill>
                  <a:srgbClr val="4B1D6B"/>
                </a:solidFill>
                <a:latin typeface="Cambria" pitchFamily="34" charset="0"/>
                <a:ea typeface="Cambria" pitchFamily="34" charset="-122"/>
                <a:cs typeface="Cambria" pitchFamily="34" charset="-120"/>
              </a:rPr>
              <a:t>₹2,357</a:t>
            </a:r>
            <a:endParaRPr lang="en-US" sz="2600" dirty="0"/>
          </a:p>
        </p:txBody>
      </p:sp>
      <p:sp>
        <p:nvSpPr>
          <p:cNvPr id="13" name="Text 10"/>
          <p:cNvSpPr txBox="1"/>
          <p:nvPr/>
        </p:nvSpPr>
        <p:spPr>
          <a:xfrm>
            <a:off x="7818120" y="4491533"/>
            <a:ext cx="3566160" cy="241402"/>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Average order value</a:t>
            </a:r>
            <a:endParaRPr lang="en-US" sz="1400" dirty="0"/>
          </a:p>
        </p:txBody>
      </p:sp>
      <p:sp>
        <p:nvSpPr>
          <p:cNvPr id="14" name="Shape 11"/>
          <p:cNvSpPr/>
          <p:nvPr/>
        </p:nvSpPr>
        <p:spPr>
          <a:xfrm>
            <a:off x="7589520" y="5074920"/>
            <a:ext cx="4023360" cy="1005840"/>
          </a:xfrm>
          <a:prstGeom prst="roundRect">
            <a:avLst>
              <a:gd name="adj" fmla="val 9091"/>
            </a:avLst>
          </a:prstGeom>
          <a:solidFill>
            <a:srgbClr val="F4EEF8"/>
          </a:solidFill>
          <a:ln w="12700">
            <a:solidFill>
              <a:srgbClr val="F4EEF8"/>
            </a:solidFill>
            <a:prstDash val="solid"/>
          </a:ln>
        </p:spPr>
      </p:sp>
      <p:sp>
        <p:nvSpPr>
          <p:cNvPr id="15" name="Text 12"/>
          <p:cNvSpPr txBox="1"/>
          <p:nvPr/>
        </p:nvSpPr>
        <p:spPr>
          <a:xfrm>
            <a:off x="7818120" y="5212080"/>
            <a:ext cx="3566160" cy="422453"/>
          </a:xfrm>
          <a:prstGeom prst="rect">
            <a:avLst/>
          </a:prstGeom>
          <a:noFill/>
          <a:ln/>
        </p:spPr>
        <p:txBody>
          <a:bodyPr wrap="square" lIns="0" tIns="0" rIns="0" bIns="0" rtlCol="0" anchor="ctr"/>
          <a:lstStyle/>
          <a:p>
            <a:pPr indent="0" marL="0">
              <a:buNone/>
            </a:pPr>
            <a:r>
              <a:rPr lang="en-US" sz="2600" b="1" dirty="0">
                <a:solidFill>
                  <a:srgbClr val="4B1D6B"/>
                </a:solidFill>
                <a:latin typeface="Cambria" pitchFamily="34" charset="0"/>
                <a:ea typeface="Cambria" pitchFamily="34" charset="-122"/>
                <a:cs typeface="Cambria" pitchFamily="34" charset="-120"/>
              </a:rPr>
              <a:t>−1.1%</a:t>
            </a:r>
            <a:endParaRPr lang="en-US" sz="2600" dirty="0"/>
          </a:p>
        </p:txBody>
      </p:sp>
      <p:sp>
        <p:nvSpPr>
          <p:cNvPr id="16" name="Text 13"/>
          <p:cNvSpPr txBox="1"/>
          <p:nvPr/>
        </p:nvSpPr>
        <p:spPr>
          <a:xfrm>
            <a:off x="7818120" y="5634533"/>
            <a:ext cx="3566160" cy="241402"/>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Growth, 2022 vs 2021</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Sales trend: steady, with no strong season</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Monthly revenue in ₹ millions; the last point is half a month</a:t>
            </a:r>
            <a:endParaRPr lang="en-US" sz="1600" dirty="0"/>
          </a:p>
        </p:txBody>
      </p:sp>
      <p:graphicFrame>
        <p:nvGraphicFramePr>
          <p:cNvPr id="4" name="Chart 0" descr=""/>
          <p:cNvGraphicFramePr/>
          <p:nvPr/>
        </p:nvGraphicFramePr>
        <p:xfrm>
          <a:off x="548640" y="1645920"/>
          <a:ext cx="777240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595360" y="1645920"/>
            <a:ext cx="3017520" cy="1417320"/>
          </a:xfrm>
          <a:prstGeom prst="roundRect">
            <a:avLst>
              <a:gd name="adj" fmla="val 6452"/>
            </a:avLst>
          </a:prstGeom>
          <a:solidFill>
            <a:srgbClr val="F4EEF8"/>
          </a:solidFill>
          <a:ln w="12700">
            <a:solidFill>
              <a:srgbClr val="F4EEF8"/>
            </a:solidFill>
            <a:prstDash val="solid"/>
          </a:ln>
        </p:spPr>
      </p:sp>
      <p:sp>
        <p:nvSpPr>
          <p:cNvPr id="6" name="Text 3"/>
          <p:cNvSpPr txBox="1"/>
          <p:nvPr/>
        </p:nvSpPr>
        <p:spPr>
          <a:xfrm>
            <a:off x="8778240" y="1755648"/>
            <a:ext cx="2697480" cy="274320"/>
          </a:xfrm>
          <a:prstGeom prst="rect">
            <a:avLst/>
          </a:prstGeom>
          <a:noFill/>
          <a:ln/>
        </p:spPr>
        <p:txBody>
          <a:bodyPr wrap="square" lIns="0" tIns="0" rIns="0" bIns="0" rtlCol="0" anchor="t"/>
          <a:lstStyle/>
          <a:p>
            <a:pPr indent="0" marL="0">
              <a:buNone/>
            </a:pPr>
            <a:r>
              <a:rPr lang="en-US" sz="1500" b="1" dirty="0">
                <a:solidFill>
                  <a:srgbClr val="4B1D6B"/>
                </a:solidFill>
                <a:latin typeface="Calibri" pitchFamily="34" charset="0"/>
                <a:ea typeface="Calibri" pitchFamily="34" charset="-122"/>
                <a:cs typeface="Calibri" pitchFamily="34" charset="-120"/>
              </a:rPr>
              <a:t>Even all year</a:t>
            </a:r>
            <a:endParaRPr lang="en-US" sz="1500" dirty="0"/>
          </a:p>
        </p:txBody>
      </p:sp>
      <p:sp>
        <p:nvSpPr>
          <p:cNvPr id="7" name="Text 4"/>
          <p:cNvSpPr txBox="1"/>
          <p:nvPr/>
        </p:nvSpPr>
        <p:spPr>
          <a:xfrm>
            <a:off x="8778240" y="2066544"/>
            <a:ext cx="2697480" cy="960120"/>
          </a:xfrm>
          <a:prstGeom prst="rect">
            <a:avLst/>
          </a:prstGeom>
          <a:noFill/>
          <a:ln/>
        </p:spPr>
        <p:txBody>
          <a:bodyPr wrap="square" lIns="0" tIns="0" rIns="0" bIns="0" rtlCol="0" anchor="t"/>
          <a:lstStyle/>
          <a:p>
            <a:pPr indent="0" marL="0">
              <a:buNone/>
            </a:pPr>
            <a:r>
              <a:rPr lang="en-US" sz="1250" dirty="0">
                <a:solidFill>
                  <a:srgbClr val="2B2233"/>
                </a:solidFill>
                <a:latin typeface="Calibri" pitchFamily="34" charset="0"/>
                <a:ea typeface="Calibri" pitchFamily="34" charset="-122"/>
                <a:cs typeface="Calibri" pitchFamily="34" charset="-120"/>
              </a:rPr>
              <a:t>Calendar months pooled over 2021 to 2022 range from ₹1.81M to ₹2.07M. Q4 is best (₹6.00M), Q3 weakest (₹5.60M).</a:t>
            </a:r>
            <a:endParaRPr lang="en-US" sz="1250" dirty="0"/>
          </a:p>
        </p:txBody>
      </p:sp>
      <p:sp>
        <p:nvSpPr>
          <p:cNvPr id="8" name="Shape 5"/>
          <p:cNvSpPr/>
          <p:nvPr/>
        </p:nvSpPr>
        <p:spPr>
          <a:xfrm>
            <a:off x="8595360" y="3182112"/>
            <a:ext cx="3017520" cy="1417320"/>
          </a:xfrm>
          <a:prstGeom prst="roundRect">
            <a:avLst>
              <a:gd name="adj" fmla="val 6452"/>
            </a:avLst>
          </a:prstGeom>
          <a:solidFill>
            <a:srgbClr val="F4EEF8"/>
          </a:solidFill>
          <a:ln w="12700">
            <a:solidFill>
              <a:srgbClr val="F4EEF8"/>
            </a:solidFill>
            <a:prstDash val="solid"/>
          </a:ln>
        </p:spPr>
      </p:sp>
      <p:sp>
        <p:nvSpPr>
          <p:cNvPr id="9" name="Text 6"/>
          <p:cNvSpPr txBox="1"/>
          <p:nvPr/>
        </p:nvSpPr>
        <p:spPr>
          <a:xfrm>
            <a:off x="8778240" y="3291840"/>
            <a:ext cx="2697480" cy="274320"/>
          </a:xfrm>
          <a:prstGeom prst="rect">
            <a:avLst/>
          </a:prstGeom>
          <a:noFill/>
          <a:ln/>
        </p:spPr>
        <p:txBody>
          <a:bodyPr wrap="square" lIns="0" tIns="0" rIns="0" bIns="0" rtlCol="0" anchor="t"/>
          <a:lstStyle/>
          <a:p>
            <a:pPr indent="0" marL="0">
              <a:buNone/>
            </a:pPr>
            <a:r>
              <a:rPr lang="en-US" sz="1500" b="1" dirty="0">
                <a:solidFill>
                  <a:srgbClr val="4B1D6B"/>
                </a:solidFill>
                <a:latin typeface="Calibri" pitchFamily="34" charset="0"/>
                <a:ea typeface="Calibri" pitchFamily="34" charset="-122"/>
                <a:cs typeface="Calibri" pitchFamily="34" charset="-120"/>
              </a:rPr>
              <a:t>One weak month</a:t>
            </a:r>
            <a:endParaRPr lang="en-US" sz="1500" dirty="0"/>
          </a:p>
        </p:txBody>
      </p:sp>
      <p:sp>
        <p:nvSpPr>
          <p:cNvPr id="10" name="Text 7"/>
          <p:cNvSpPr txBox="1"/>
          <p:nvPr/>
        </p:nvSpPr>
        <p:spPr>
          <a:xfrm>
            <a:off x="8778240" y="3602736"/>
            <a:ext cx="2697480" cy="960120"/>
          </a:xfrm>
          <a:prstGeom prst="rect">
            <a:avLst/>
          </a:prstGeom>
          <a:noFill/>
          <a:ln/>
        </p:spPr>
        <p:txBody>
          <a:bodyPr wrap="square" lIns="0" tIns="0" rIns="0" bIns="0" rtlCol="0" anchor="t"/>
          <a:lstStyle/>
          <a:p>
            <a:pPr indent="0" marL="0">
              <a:buNone/>
            </a:pPr>
            <a:r>
              <a:rPr lang="en-US" sz="1250" dirty="0">
                <a:solidFill>
                  <a:srgbClr val="2B2233"/>
                </a:solidFill>
                <a:latin typeface="Calibri" pitchFamily="34" charset="0"/>
                <a:ea typeface="Calibri" pitchFamily="34" charset="-122"/>
                <a:cs typeface="Calibri" pitchFamily="34" charset="-120"/>
              </a:rPr>
              <a:t>May 2022 (₹0.87M) is the only clear low. The dip at the end is only half of March 2023.</a:t>
            </a:r>
            <a:endParaRPr lang="en-US" sz="1250" dirty="0"/>
          </a:p>
        </p:txBody>
      </p:sp>
      <p:sp>
        <p:nvSpPr>
          <p:cNvPr id="11" name="Shape 8"/>
          <p:cNvSpPr/>
          <p:nvPr/>
        </p:nvSpPr>
        <p:spPr>
          <a:xfrm>
            <a:off x="8595360" y="4718304"/>
            <a:ext cx="3017520" cy="1417320"/>
          </a:xfrm>
          <a:prstGeom prst="roundRect">
            <a:avLst>
              <a:gd name="adj" fmla="val 6452"/>
            </a:avLst>
          </a:prstGeom>
          <a:solidFill>
            <a:srgbClr val="F4EEF8"/>
          </a:solidFill>
          <a:ln w="12700">
            <a:solidFill>
              <a:srgbClr val="F4EEF8"/>
            </a:solidFill>
            <a:prstDash val="solid"/>
          </a:ln>
        </p:spPr>
      </p:sp>
      <p:sp>
        <p:nvSpPr>
          <p:cNvPr id="12" name="Text 9"/>
          <p:cNvSpPr txBox="1"/>
          <p:nvPr/>
        </p:nvSpPr>
        <p:spPr>
          <a:xfrm>
            <a:off x="8778240" y="4828032"/>
            <a:ext cx="2697480" cy="274320"/>
          </a:xfrm>
          <a:prstGeom prst="rect">
            <a:avLst/>
          </a:prstGeom>
          <a:noFill/>
          <a:ln/>
        </p:spPr>
        <p:txBody>
          <a:bodyPr wrap="square" lIns="0" tIns="0" rIns="0" bIns="0" rtlCol="0" anchor="t"/>
          <a:lstStyle/>
          <a:p>
            <a:pPr indent="0" marL="0">
              <a:buNone/>
            </a:pPr>
            <a:r>
              <a:rPr lang="en-US" sz="1500" b="1" dirty="0">
                <a:solidFill>
                  <a:srgbClr val="4B1D6B"/>
                </a:solidFill>
                <a:latin typeface="Calibri" pitchFamily="34" charset="0"/>
                <a:ea typeface="Calibri" pitchFamily="34" charset="-122"/>
                <a:cs typeface="Calibri" pitchFamily="34" charset="-120"/>
              </a:rPr>
              <a:t>No growth</a:t>
            </a:r>
            <a:endParaRPr lang="en-US" sz="1500" dirty="0"/>
          </a:p>
        </p:txBody>
      </p:sp>
      <p:sp>
        <p:nvSpPr>
          <p:cNvPr id="13" name="Text 10"/>
          <p:cNvSpPr txBox="1"/>
          <p:nvPr/>
        </p:nvSpPr>
        <p:spPr>
          <a:xfrm>
            <a:off x="8778240" y="5138928"/>
            <a:ext cx="2697480" cy="960120"/>
          </a:xfrm>
          <a:prstGeom prst="rect">
            <a:avLst/>
          </a:prstGeom>
          <a:noFill/>
          <a:ln/>
        </p:spPr>
        <p:txBody>
          <a:bodyPr wrap="square" lIns="0" tIns="0" rIns="0" bIns="0" rtlCol="0" anchor="t"/>
          <a:lstStyle/>
          <a:p>
            <a:pPr indent="0" marL="0">
              <a:buNone/>
            </a:pPr>
            <a:r>
              <a:rPr lang="en-US" sz="1250" dirty="0">
                <a:solidFill>
                  <a:srgbClr val="2B2233"/>
                </a:solidFill>
                <a:latin typeface="Calibri" pitchFamily="34" charset="0"/>
                <a:ea typeface="Calibri" pitchFamily="34" charset="-122"/>
                <a:cs typeface="Calibri" pitchFamily="34" charset="-120"/>
              </a:rPr>
              <a:t>2022 is 1.1% below 2021. Early 2023 is 3.7% above early 2022.</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Products: revenue is spread, margin is not</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Top 10 products by revenue, ₹ thousands</a:t>
            </a:r>
            <a:endParaRPr lang="en-US" sz="1600" dirty="0"/>
          </a:p>
        </p:txBody>
      </p:sp>
      <p:graphicFrame>
        <p:nvGraphicFramePr>
          <p:cNvPr id="4" name="Chart 0" descr=""/>
          <p:cNvGraphicFramePr/>
          <p:nvPr/>
        </p:nvGraphicFramePr>
        <p:xfrm>
          <a:off x="548640" y="1645920"/>
          <a:ext cx="612648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645920"/>
            <a:ext cx="4663440" cy="2468880"/>
          </a:xfrm>
          <a:prstGeom prst="roundRect">
            <a:avLst>
              <a:gd name="adj" fmla="val 370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7178040" y="1783080"/>
            <a:ext cx="4206240" cy="320040"/>
          </a:xfrm>
          <a:prstGeom prst="rect">
            <a:avLst/>
          </a:prstGeom>
          <a:noFill/>
          <a:ln/>
        </p:spPr>
        <p:txBody>
          <a:bodyPr wrap="square" lIns="0" tIns="0" rIns="0" bIns="0" rtlCol="0" anchor="t"/>
          <a:lstStyle/>
          <a:p>
            <a:pPr indent="0" marL="0">
              <a:buNone/>
            </a:pPr>
            <a:r>
              <a:rPr lang="en-US" sz="1600" b="1" dirty="0">
                <a:solidFill>
                  <a:srgbClr val="4B1D6B"/>
                </a:solidFill>
                <a:latin typeface="Calibri" pitchFamily="34" charset="0"/>
                <a:ea typeface="Calibri" pitchFamily="34" charset="-122"/>
                <a:cs typeface="Calibri" pitchFamily="34" charset="-120"/>
              </a:rPr>
              <a:t>Best sellers with thin margins</a:t>
            </a:r>
            <a:endParaRPr lang="en-US" sz="1600" dirty="0"/>
          </a:p>
        </p:txBody>
      </p:sp>
      <p:sp>
        <p:nvSpPr>
          <p:cNvPr id="7" name="Text 4"/>
          <p:cNvSpPr txBox="1"/>
          <p:nvPr/>
        </p:nvSpPr>
        <p:spPr>
          <a:xfrm>
            <a:off x="7178040" y="2194560"/>
            <a:ext cx="4206240"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B2233"/>
                </a:solidFill>
                <a:latin typeface="Calibri" pitchFamily="34" charset="0"/>
                <a:ea typeface="Calibri" pitchFamily="34" charset="-122"/>
                <a:cs typeface="Calibri" pitchFamily="34" charset="-120"/>
              </a:rPr>
              <a:t>Product 84: 5th by revenue, 17.0% margin</a:t>
            </a:r>
            <a:endParaRPr lang="en-US" sz="1400" dirty="0"/>
          </a:p>
          <a:p>
            <a:pPr marL="342900" indent="-342900">
              <a:spcAft>
                <a:spcPts val="600"/>
              </a:spcAft>
              <a:buSzPct val="100000"/>
              <a:buChar char="•"/>
            </a:pPr>
            <a:r>
              <a:rPr lang="en-US" sz="1400" dirty="0">
                <a:solidFill>
                  <a:srgbClr val="2B2233"/>
                </a:solidFill>
                <a:latin typeface="Calibri" pitchFamily="34" charset="0"/>
                <a:ea typeface="Calibri" pitchFamily="34" charset="-122"/>
                <a:cs typeface="Calibri" pitchFamily="34" charset="-120"/>
              </a:rPr>
              <a:t>Product 66: 8th by revenue, 18.0% margin</a:t>
            </a:r>
            <a:endParaRPr lang="en-US" sz="1400" dirty="0"/>
          </a:p>
          <a:p>
            <a:pPr marL="342900" indent="-342900">
              <a:spcAft>
                <a:spcPts val="600"/>
              </a:spcAft>
              <a:buSzPct val="100000"/>
              <a:buChar char="•"/>
            </a:pPr>
            <a:r>
              <a:rPr lang="en-US" sz="1400" dirty="0">
                <a:solidFill>
                  <a:srgbClr val="2B2233"/>
                </a:solidFill>
                <a:latin typeface="Calibri" pitchFamily="34" charset="0"/>
                <a:ea typeface="Calibri" pitchFamily="34" charset="-122"/>
                <a:cs typeface="Calibri" pitchFamily="34" charset="-120"/>
              </a:rPr>
              <a:t>Product 4: ₹417K revenue, 15.0% margin</a:t>
            </a:r>
            <a:endParaRPr lang="en-US" sz="1400" dirty="0"/>
          </a:p>
          <a:p>
            <a:pPr marL="342900" indent="-342900">
              <a:spcAft>
                <a:spcPts val="600"/>
              </a:spcAft>
              <a:buSzPct val="100000"/>
              <a:buChar char="•"/>
            </a:pPr>
            <a:r>
              <a:rPr lang="en-US" sz="1400" dirty="0">
                <a:solidFill>
                  <a:srgbClr val="2B2233"/>
                </a:solidFill>
                <a:latin typeface="Calibri" pitchFamily="34" charset="0"/>
                <a:ea typeface="Calibri" pitchFamily="34" charset="-122"/>
                <a:cs typeface="Calibri" pitchFamily="34" charset="-120"/>
              </a:rPr>
              <a:t>Product 63: top seller, 28.0% margin</a:t>
            </a:r>
            <a:endParaRPr lang="en-US" sz="1400" dirty="0"/>
          </a:p>
        </p:txBody>
      </p:sp>
      <p:sp>
        <p:nvSpPr>
          <p:cNvPr id="8" name="Shape 5"/>
          <p:cNvSpPr/>
          <p:nvPr/>
        </p:nvSpPr>
        <p:spPr>
          <a:xfrm>
            <a:off x="6949440" y="4297680"/>
            <a:ext cx="4663440" cy="1828800"/>
          </a:xfrm>
          <a:prstGeom prst="roundRect">
            <a:avLst>
              <a:gd name="adj" fmla="val 5000"/>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7178040" y="4434840"/>
            <a:ext cx="4206240" cy="1554480"/>
          </a:xfrm>
          <a:prstGeom prst="rect">
            <a:avLst/>
          </a:prstGeom>
          <a:noFill/>
          <a:ln/>
        </p:spPr>
        <p:txBody>
          <a:bodyPr wrap="square" lIns="0" tIns="0" rIns="0" bIns="0" rtlCol="0" anchor="t"/>
          <a:lstStyle/>
          <a:p>
            <a:pPr indent="0" marL="0">
              <a:spcAft>
                <a:spcPts val="600"/>
              </a:spcAft>
              <a:buNone/>
            </a:pPr>
            <a:r>
              <a:rPr lang="en-US" sz="1400" b="1" dirty="0">
                <a:solidFill>
                  <a:srgbClr val="4B1D6B"/>
                </a:solidFill>
                <a:latin typeface="Calibri" pitchFamily="34" charset="0"/>
                <a:ea typeface="Calibri" pitchFamily="34" charset="-122"/>
                <a:cs typeface="Calibri" pitchFamily="34" charset="-120"/>
              </a:rPr>
              <a:t>15 products earn under 20%</a:t>
            </a:r>
            <a:endParaRPr lang="en-US" sz="1400" dirty="0"/>
          </a:p>
          <a:p>
            <a:pPr indent="0" marL="0">
              <a:spcAft>
                <a:spcPts val="600"/>
              </a:spcAft>
              <a:buNone/>
            </a:pPr>
            <a:r>
              <a:rPr lang="en-US" sz="1400" dirty="0">
                <a:solidFill>
                  <a:srgbClr val="2B2233"/>
                </a:solidFill>
                <a:latin typeface="Calibri" pitchFamily="34" charset="0"/>
                <a:ea typeface="Calibri" pitchFamily="34" charset="-122"/>
                <a:cs typeface="Calibri" pitchFamily="34" charset="-120"/>
              </a:rPr>
              <a:t>They bring 13.4% of revenue. Lifting them to 25% margin is worth about ₹259K of profit. Products 41, 96 and 40 earn about 50%: promote them.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Customers: no concentration risk</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Top 10 customers by Customer ID, ₹ thousands</a:t>
            </a:r>
            <a:endParaRPr lang="en-US" sz="1600" dirty="0"/>
          </a:p>
        </p:txBody>
      </p:sp>
      <p:graphicFrame>
        <p:nvGraphicFramePr>
          <p:cNvPr id="4" name="Chart 0" descr=""/>
          <p:cNvGraphicFramePr/>
          <p:nvPr/>
        </p:nvGraphicFramePr>
        <p:xfrm>
          <a:off x="548640" y="164592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45920"/>
            <a:ext cx="4114800" cy="1371600"/>
          </a:xfrm>
          <a:prstGeom prst="roundRect">
            <a:avLst>
              <a:gd name="adj" fmla="val 6667"/>
            </a:avLst>
          </a:prstGeom>
          <a:solidFill>
            <a:srgbClr val="F4EEF8"/>
          </a:solidFill>
          <a:ln w="12700">
            <a:solidFill>
              <a:srgbClr val="F4EEF8"/>
            </a:solidFill>
            <a:prstDash val="solid"/>
          </a:ln>
        </p:spPr>
      </p:sp>
      <p:sp>
        <p:nvSpPr>
          <p:cNvPr id="6" name="Text 3"/>
          <p:cNvSpPr txBox="1"/>
          <p:nvPr/>
        </p:nvSpPr>
        <p:spPr>
          <a:xfrm>
            <a:off x="7726680" y="1783080"/>
            <a:ext cx="3657600" cy="576072"/>
          </a:xfrm>
          <a:prstGeom prst="rect">
            <a:avLst/>
          </a:prstGeom>
          <a:noFill/>
          <a:ln/>
        </p:spPr>
        <p:txBody>
          <a:bodyPr wrap="square" lIns="0" tIns="0" rIns="0" bIns="0" rtlCol="0" anchor="ctr"/>
          <a:lstStyle/>
          <a:p>
            <a:pPr indent="0" marL="0">
              <a:buNone/>
            </a:pPr>
            <a:r>
              <a:rPr lang="en-US" sz="3000" b="1" dirty="0">
                <a:solidFill>
                  <a:srgbClr val="4B1D6B"/>
                </a:solidFill>
                <a:latin typeface="Cambria" pitchFamily="34" charset="0"/>
                <a:ea typeface="Cambria" pitchFamily="34" charset="-122"/>
                <a:cs typeface="Cambria" pitchFamily="34" charset="-120"/>
              </a:rPr>
              <a:t>2.6%</a:t>
            </a:r>
            <a:endParaRPr lang="en-US" sz="3000" dirty="0"/>
          </a:p>
        </p:txBody>
      </p:sp>
      <p:sp>
        <p:nvSpPr>
          <p:cNvPr id="7" name="Text 4"/>
          <p:cNvSpPr txBox="1"/>
          <p:nvPr/>
        </p:nvSpPr>
        <p:spPr>
          <a:xfrm>
            <a:off x="7726680" y="2359152"/>
            <a:ext cx="3657600" cy="329184"/>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Sales from the top 10 customers</a:t>
            </a:r>
            <a:endParaRPr lang="en-US" sz="1400" dirty="0"/>
          </a:p>
        </p:txBody>
      </p:sp>
      <p:sp>
        <p:nvSpPr>
          <p:cNvPr id="8" name="Text 5"/>
          <p:cNvSpPr txBox="1"/>
          <p:nvPr/>
        </p:nvSpPr>
        <p:spPr>
          <a:xfrm>
            <a:off x="7726680" y="2688336"/>
            <a:ext cx="3657600" cy="384048"/>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The largest is 0.27% of sales</a:t>
            </a:r>
            <a:endParaRPr lang="en-US" sz="1200" dirty="0"/>
          </a:p>
        </p:txBody>
      </p:sp>
      <p:sp>
        <p:nvSpPr>
          <p:cNvPr id="9" name="Shape 6"/>
          <p:cNvSpPr/>
          <p:nvPr/>
        </p:nvSpPr>
        <p:spPr>
          <a:xfrm>
            <a:off x="7498080" y="3154680"/>
            <a:ext cx="4114800" cy="1371600"/>
          </a:xfrm>
          <a:prstGeom prst="roundRect">
            <a:avLst>
              <a:gd name="adj" fmla="val 6667"/>
            </a:avLst>
          </a:prstGeom>
          <a:solidFill>
            <a:srgbClr val="F4EEF8"/>
          </a:solidFill>
          <a:ln w="12700">
            <a:solidFill>
              <a:srgbClr val="F4EEF8"/>
            </a:solidFill>
            <a:prstDash val="solid"/>
          </a:ln>
        </p:spPr>
      </p:sp>
      <p:sp>
        <p:nvSpPr>
          <p:cNvPr id="10" name="Text 7"/>
          <p:cNvSpPr txBox="1"/>
          <p:nvPr/>
        </p:nvSpPr>
        <p:spPr>
          <a:xfrm>
            <a:off x="7726680" y="3291840"/>
            <a:ext cx="3657600" cy="576072"/>
          </a:xfrm>
          <a:prstGeom prst="rect">
            <a:avLst/>
          </a:prstGeom>
          <a:noFill/>
          <a:ln/>
        </p:spPr>
        <p:txBody>
          <a:bodyPr wrap="square" lIns="0" tIns="0" rIns="0" bIns="0" rtlCol="0" anchor="ctr"/>
          <a:lstStyle/>
          <a:p>
            <a:pPr indent="0" marL="0">
              <a:buNone/>
            </a:pPr>
            <a:r>
              <a:rPr lang="en-US" sz="3000" b="1" dirty="0">
                <a:solidFill>
                  <a:srgbClr val="4B1D6B"/>
                </a:solidFill>
                <a:latin typeface="Cambria" pitchFamily="34" charset="0"/>
                <a:ea typeface="Cambria" pitchFamily="34" charset="-122"/>
                <a:cs typeface="Cambria" pitchFamily="34" charset="-120"/>
              </a:rPr>
              <a:t>545 of 801</a:t>
            </a:r>
            <a:endParaRPr lang="en-US" sz="3000" dirty="0"/>
          </a:p>
        </p:txBody>
      </p:sp>
      <p:sp>
        <p:nvSpPr>
          <p:cNvPr id="11" name="Text 8"/>
          <p:cNvSpPr txBox="1"/>
          <p:nvPr/>
        </p:nvSpPr>
        <p:spPr>
          <a:xfrm>
            <a:off x="7726680" y="3867912"/>
            <a:ext cx="3657600" cy="329184"/>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Customers needed for 80% of revenue</a:t>
            </a:r>
            <a:endParaRPr lang="en-US" sz="1400" dirty="0"/>
          </a:p>
        </p:txBody>
      </p:sp>
      <p:sp>
        <p:nvSpPr>
          <p:cNvPr id="12" name="Shape 9"/>
          <p:cNvSpPr/>
          <p:nvPr/>
        </p:nvSpPr>
        <p:spPr>
          <a:xfrm>
            <a:off x="7498080" y="4663440"/>
            <a:ext cx="4114800" cy="1463040"/>
          </a:xfrm>
          <a:prstGeom prst="roundRect">
            <a:avLst>
              <a:gd name="adj" fmla="val 6250"/>
            </a:avLst>
          </a:prstGeom>
          <a:solidFill>
            <a:srgbClr val="F4EEF8"/>
          </a:solidFill>
          <a:ln w="12700">
            <a:solidFill>
              <a:srgbClr val="F4EEF8"/>
            </a:solidFill>
            <a:prstDash val="solid"/>
          </a:ln>
        </p:spPr>
      </p:sp>
      <p:sp>
        <p:nvSpPr>
          <p:cNvPr id="13" name="Text 10"/>
          <p:cNvSpPr txBox="1"/>
          <p:nvPr/>
        </p:nvSpPr>
        <p:spPr>
          <a:xfrm>
            <a:off x="7726680" y="4800600"/>
            <a:ext cx="3657600" cy="614477"/>
          </a:xfrm>
          <a:prstGeom prst="rect">
            <a:avLst/>
          </a:prstGeom>
          <a:noFill/>
          <a:ln/>
        </p:spPr>
        <p:txBody>
          <a:bodyPr wrap="square" lIns="0" tIns="0" rIns="0" bIns="0" rtlCol="0" anchor="ctr"/>
          <a:lstStyle/>
          <a:p>
            <a:pPr indent="0" marL="0">
              <a:buNone/>
            </a:pPr>
            <a:r>
              <a:rPr lang="en-US" sz="3000" b="1" dirty="0">
                <a:solidFill>
                  <a:srgbClr val="4B1D6B"/>
                </a:solidFill>
                <a:latin typeface="Cambria" pitchFamily="34" charset="0"/>
                <a:ea typeface="Cambria" pitchFamily="34" charset="-122"/>
                <a:cs typeface="Cambria" pitchFamily="34" charset="-120"/>
              </a:rPr>
              <a:t>801 vs 509</a:t>
            </a:r>
            <a:endParaRPr lang="en-US" sz="3000" dirty="0"/>
          </a:p>
        </p:txBody>
      </p:sp>
      <p:sp>
        <p:nvSpPr>
          <p:cNvPr id="14" name="Text 11"/>
          <p:cNvSpPr txBox="1"/>
          <p:nvPr/>
        </p:nvSpPr>
        <p:spPr>
          <a:xfrm>
            <a:off x="7726680" y="5415077"/>
            <a:ext cx="3657600" cy="351130"/>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Customer IDs vs distinct names</a:t>
            </a:r>
            <a:endParaRPr lang="en-US" sz="1400" dirty="0"/>
          </a:p>
        </p:txBody>
      </p:sp>
      <p:sp>
        <p:nvSpPr>
          <p:cNvPr id="15" name="Text 12"/>
          <p:cNvSpPr txBox="1"/>
          <p:nvPr/>
        </p:nvSpPr>
        <p:spPr>
          <a:xfrm>
            <a:off x="7726680" y="5766206"/>
            <a:ext cx="3657600" cy="409651"/>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229 names share 2 to 5 IDs, so use IDs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Sales team: tightly bunched</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Top 10 salespeople by revenue, ₹ thousands</a:t>
            </a:r>
            <a:endParaRPr lang="en-US" sz="1600" dirty="0"/>
          </a:p>
        </p:txBody>
      </p:sp>
      <p:graphicFrame>
        <p:nvGraphicFramePr>
          <p:cNvPr id="4" name="Chart 0" descr=""/>
          <p:cNvGraphicFramePr/>
          <p:nvPr/>
        </p:nvGraphicFramePr>
        <p:xfrm>
          <a:off x="548640" y="164592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498080" y="1645920"/>
            <a:ext cx="4114800" cy="1417320"/>
          </a:xfrm>
          <a:prstGeom prst="roundRect">
            <a:avLst>
              <a:gd name="adj" fmla="val 6452"/>
            </a:avLst>
          </a:prstGeom>
          <a:solidFill>
            <a:srgbClr val="F4EEF8"/>
          </a:solidFill>
          <a:ln w="12700">
            <a:solidFill>
              <a:srgbClr val="F4EEF8"/>
            </a:solidFill>
            <a:prstDash val="solid"/>
          </a:ln>
        </p:spPr>
      </p:sp>
      <p:sp>
        <p:nvSpPr>
          <p:cNvPr id="6" name="Text 3"/>
          <p:cNvSpPr txBox="1"/>
          <p:nvPr/>
        </p:nvSpPr>
        <p:spPr>
          <a:xfrm>
            <a:off x="7726680" y="1783080"/>
            <a:ext cx="3657600" cy="595274"/>
          </a:xfrm>
          <a:prstGeom prst="rect">
            <a:avLst/>
          </a:prstGeom>
          <a:noFill/>
          <a:ln/>
        </p:spPr>
        <p:txBody>
          <a:bodyPr wrap="square" lIns="0" tIns="0" rIns="0" bIns="0" rtlCol="0" anchor="ctr"/>
          <a:lstStyle/>
          <a:p>
            <a:pPr indent="0" marL="0">
              <a:buNone/>
            </a:pPr>
            <a:r>
              <a:rPr lang="en-US" sz="2800" b="1" dirty="0">
                <a:solidFill>
                  <a:srgbClr val="4B1D6B"/>
                </a:solidFill>
                <a:latin typeface="Cambria" pitchFamily="34" charset="0"/>
                <a:ea typeface="Cambria" pitchFamily="34" charset="-122"/>
                <a:cs typeface="Cambria" pitchFamily="34" charset="-120"/>
              </a:rPr>
              <a:t>₹436K to ₹679K</a:t>
            </a:r>
            <a:endParaRPr lang="en-US" sz="2800" dirty="0"/>
          </a:p>
        </p:txBody>
      </p:sp>
      <p:sp>
        <p:nvSpPr>
          <p:cNvPr id="7" name="Text 4"/>
          <p:cNvSpPr txBox="1"/>
          <p:nvPr/>
        </p:nvSpPr>
        <p:spPr>
          <a:xfrm>
            <a:off x="7726680" y="2378354"/>
            <a:ext cx="3657600" cy="340157"/>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Sales per salesperson across all 45</a:t>
            </a:r>
            <a:endParaRPr lang="en-US" sz="1400" dirty="0"/>
          </a:p>
        </p:txBody>
      </p:sp>
      <p:sp>
        <p:nvSpPr>
          <p:cNvPr id="8" name="Text 5"/>
          <p:cNvSpPr txBox="1"/>
          <p:nvPr/>
        </p:nvSpPr>
        <p:spPr>
          <a:xfrm>
            <a:off x="7726680" y="2718511"/>
            <a:ext cx="3657600" cy="396850"/>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Margins only range from 31% to 34%</a:t>
            </a:r>
            <a:endParaRPr lang="en-US" sz="1200" dirty="0"/>
          </a:p>
        </p:txBody>
      </p:sp>
      <p:sp>
        <p:nvSpPr>
          <p:cNvPr id="9" name="Shape 6"/>
          <p:cNvSpPr/>
          <p:nvPr/>
        </p:nvSpPr>
        <p:spPr>
          <a:xfrm>
            <a:off x="7498080" y="3200400"/>
            <a:ext cx="4114800" cy="1417320"/>
          </a:xfrm>
          <a:prstGeom prst="roundRect">
            <a:avLst>
              <a:gd name="adj" fmla="val 6452"/>
            </a:avLst>
          </a:prstGeom>
          <a:solidFill>
            <a:srgbClr val="F4EEF8"/>
          </a:solidFill>
          <a:ln w="12700">
            <a:solidFill>
              <a:srgbClr val="F4EEF8"/>
            </a:solidFill>
            <a:prstDash val="solid"/>
          </a:ln>
        </p:spPr>
      </p:sp>
      <p:sp>
        <p:nvSpPr>
          <p:cNvPr id="10" name="Text 7"/>
          <p:cNvSpPr txBox="1"/>
          <p:nvPr/>
        </p:nvSpPr>
        <p:spPr>
          <a:xfrm>
            <a:off x="7726680" y="3337560"/>
            <a:ext cx="3657600" cy="595274"/>
          </a:xfrm>
          <a:prstGeom prst="rect">
            <a:avLst/>
          </a:prstGeom>
          <a:noFill/>
          <a:ln/>
        </p:spPr>
        <p:txBody>
          <a:bodyPr wrap="square" lIns="0" tIns="0" rIns="0" bIns="0" rtlCol="0" anchor="ctr"/>
          <a:lstStyle/>
          <a:p>
            <a:pPr indent="0" marL="0">
              <a:buNone/>
            </a:pPr>
            <a:r>
              <a:rPr lang="en-US" sz="2800" b="1" dirty="0">
                <a:solidFill>
                  <a:srgbClr val="4B1D6B"/>
                </a:solidFill>
                <a:latin typeface="Cambria" pitchFamily="34" charset="0"/>
                <a:ea typeface="Cambria" pitchFamily="34" charset="-122"/>
                <a:cs typeface="Cambria" pitchFamily="34" charset="-120"/>
              </a:rPr>
              <a:t>23 of 45</a:t>
            </a:r>
            <a:endParaRPr lang="en-US" sz="2800" dirty="0"/>
          </a:p>
        </p:txBody>
      </p:sp>
      <p:sp>
        <p:nvSpPr>
          <p:cNvPr id="11" name="Text 8"/>
          <p:cNvSpPr txBox="1"/>
          <p:nvPr/>
        </p:nvSpPr>
        <p:spPr>
          <a:xfrm>
            <a:off x="7726680" y="3932834"/>
            <a:ext cx="3657600" cy="340157"/>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Grew from 2021 to 2022</a:t>
            </a:r>
            <a:endParaRPr lang="en-US" sz="1400" dirty="0"/>
          </a:p>
        </p:txBody>
      </p:sp>
      <p:sp>
        <p:nvSpPr>
          <p:cNvPr id="12" name="Text 9"/>
          <p:cNvSpPr txBox="1"/>
          <p:nvPr/>
        </p:nvSpPr>
        <p:spPr>
          <a:xfrm>
            <a:off x="7726680" y="4272991"/>
            <a:ext cx="3657600" cy="396850"/>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Carl Hall +40%, Sean Miller +33%</a:t>
            </a:r>
            <a:endParaRPr lang="en-US" sz="1200" dirty="0"/>
          </a:p>
        </p:txBody>
      </p:sp>
      <p:sp>
        <p:nvSpPr>
          <p:cNvPr id="13" name="Shape 10"/>
          <p:cNvSpPr/>
          <p:nvPr/>
        </p:nvSpPr>
        <p:spPr>
          <a:xfrm>
            <a:off x="7498080" y="4754880"/>
            <a:ext cx="4114800" cy="1417320"/>
          </a:xfrm>
          <a:prstGeom prst="roundRect">
            <a:avLst>
              <a:gd name="adj" fmla="val 6452"/>
            </a:avLst>
          </a:prstGeom>
          <a:solidFill>
            <a:srgbClr val="F4EEF8"/>
          </a:solidFill>
          <a:ln w="12700">
            <a:solidFill>
              <a:srgbClr val="F4EEF8"/>
            </a:solidFill>
            <a:prstDash val="solid"/>
          </a:ln>
        </p:spPr>
      </p:sp>
      <p:sp>
        <p:nvSpPr>
          <p:cNvPr id="14" name="Text 11"/>
          <p:cNvSpPr txBox="1"/>
          <p:nvPr/>
        </p:nvSpPr>
        <p:spPr>
          <a:xfrm>
            <a:off x="7726680" y="4892040"/>
            <a:ext cx="3657600" cy="595274"/>
          </a:xfrm>
          <a:prstGeom prst="rect">
            <a:avLst/>
          </a:prstGeom>
          <a:noFill/>
          <a:ln/>
        </p:spPr>
        <p:txBody>
          <a:bodyPr wrap="square" lIns="0" tIns="0" rIns="0" bIns="0" rtlCol="0" anchor="ctr"/>
          <a:lstStyle/>
          <a:p>
            <a:pPr indent="0" marL="0">
              <a:buNone/>
            </a:pPr>
            <a:r>
              <a:rPr lang="en-US" sz="2400" b="1" dirty="0">
                <a:solidFill>
                  <a:srgbClr val="4B1D6B"/>
                </a:solidFill>
                <a:latin typeface="Cambria" pitchFamily="34" charset="0"/>
                <a:ea typeface="Cambria" pitchFamily="34" charset="-122"/>
                <a:cs typeface="Cambria" pitchFamily="34" charset="-120"/>
              </a:rPr>
              <a:t>Kenneth Bradley</a:t>
            </a:r>
            <a:endParaRPr lang="en-US" sz="2400" dirty="0"/>
          </a:p>
        </p:txBody>
      </p:sp>
      <p:sp>
        <p:nvSpPr>
          <p:cNvPr id="15" name="Text 12"/>
          <p:cNvSpPr txBox="1"/>
          <p:nvPr/>
        </p:nvSpPr>
        <p:spPr>
          <a:xfrm>
            <a:off x="7726680" y="5487314"/>
            <a:ext cx="3657600" cy="340157"/>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Top on sales and profit</a:t>
            </a:r>
            <a:endParaRPr lang="en-US" sz="1400" dirty="0"/>
          </a:p>
        </p:txBody>
      </p:sp>
      <p:sp>
        <p:nvSpPr>
          <p:cNvPr id="16" name="Text 13"/>
          <p:cNvSpPr txBox="1"/>
          <p:nvPr/>
        </p:nvSpPr>
        <p:spPr>
          <a:xfrm>
            <a:off x="7726680" y="5827471"/>
            <a:ext cx="3657600" cy="396850"/>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₹678.8K sales, ₹227.3K profit, but down 19%</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Geography: population does not drive sales</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Each dot is one of 74 locations</a:t>
            </a:r>
            <a:endParaRPr lang="en-US" sz="1600" dirty="0"/>
          </a:p>
        </p:txBody>
      </p:sp>
      <p:graphicFrame>
        <p:nvGraphicFramePr>
          <p:cNvPr id="4" name="Chart 0" descr=""/>
          <p:cNvGraphicFramePr/>
          <p:nvPr/>
        </p:nvGraphicFramePr>
        <p:xfrm>
          <a:off x="548640" y="1645920"/>
          <a:ext cx="685800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645920"/>
            <a:ext cx="3931920" cy="1417320"/>
          </a:xfrm>
          <a:prstGeom prst="roundRect">
            <a:avLst>
              <a:gd name="adj" fmla="val 6452"/>
            </a:avLst>
          </a:prstGeom>
          <a:solidFill>
            <a:srgbClr val="F4EEF8"/>
          </a:solidFill>
          <a:ln w="12700">
            <a:solidFill>
              <a:srgbClr val="F4EEF8"/>
            </a:solidFill>
            <a:prstDash val="solid"/>
          </a:ln>
        </p:spPr>
      </p:sp>
      <p:sp>
        <p:nvSpPr>
          <p:cNvPr id="6" name="Text 3"/>
          <p:cNvSpPr txBox="1"/>
          <p:nvPr/>
        </p:nvSpPr>
        <p:spPr>
          <a:xfrm>
            <a:off x="7909560" y="1783080"/>
            <a:ext cx="3474720" cy="595274"/>
          </a:xfrm>
          <a:prstGeom prst="rect">
            <a:avLst/>
          </a:prstGeom>
          <a:noFill/>
          <a:ln/>
        </p:spPr>
        <p:txBody>
          <a:bodyPr wrap="square" lIns="0" tIns="0" rIns="0" bIns="0" rtlCol="0" anchor="ctr"/>
          <a:lstStyle/>
          <a:p>
            <a:pPr indent="0" marL="0">
              <a:buNone/>
            </a:pPr>
            <a:r>
              <a:rPr lang="en-US" sz="2800" b="1" dirty="0">
                <a:solidFill>
                  <a:srgbClr val="4B1D6B"/>
                </a:solidFill>
                <a:latin typeface="Cambria" pitchFamily="34" charset="0"/>
                <a:ea typeface="Cambria" pitchFamily="34" charset="-122"/>
                <a:cs typeface="Cambria" pitchFamily="34" charset="-120"/>
              </a:rPr>
              <a:t>0.07</a:t>
            </a:r>
            <a:endParaRPr lang="en-US" sz="2800" dirty="0"/>
          </a:p>
        </p:txBody>
      </p:sp>
      <p:sp>
        <p:nvSpPr>
          <p:cNvPr id="7" name="Text 4"/>
          <p:cNvSpPr txBox="1"/>
          <p:nvPr/>
        </p:nvSpPr>
        <p:spPr>
          <a:xfrm>
            <a:off x="7909560" y="2378354"/>
            <a:ext cx="3474720" cy="340157"/>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Correlation of population and sales</a:t>
            </a:r>
            <a:endParaRPr lang="en-US" sz="1400" dirty="0"/>
          </a:p>
        </p:txBody>
      </p:sp>
      <p:sp>
        <p:nvSpPr>
          <p:cNvPr id="8" name="Text 5"/>
          <p:cNvSpPr txBox="1"/>
          <p:nvPr/>
        </p:nvSpPr>
        <p:spPr>
          <a:xfrm>
            <a:off x="7909560" y="2718511"/>
            <a:ext cx="3474720" cy="396850"/>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A 100K town sells about as much as a 4M city</a:t>
            </a:r>
            <a:endParaRPr lang="en-US" sz="1200" dirty="0"/>
          </a:p>
        </p:txBody>
      </p:sp>
      <p:sp>
        <p:nvSpPr>
          <p:cNvPr id="9" name="Shape 6"/>
          <p:cNvSpPr/>
          <p:nvPr/>
        </p:nvSpPr>
        <p:spPr>
          <a:xfrm>
            <a:off x="7680960" y="3200400"/>
            <a:ext cx="3931920" cy="1417320"/>
          </a:xfrm>
          <a:prstGeom prst="roundRect">
            <a:avLst>
              <a:gd name="adj" fmla="val 6452"/>
            </a:avLst>
          </a:prstGeom>
          <a:solidFill>
            <a:srgbClr val="F4EEF8"/>
          </a:solidFill>
          <a:ln w="12700">
            <a:solidFill>
              <a:srgbClr val="F4EEF8"/>
            </a:solidFill>
            <a:prstDash val="solid"/>
          </a:ln>
        </p:spPr>
      </p:sp>
      <p:sp>
        <p:nvSpPr>
          <p:cNvPr id="10" name="Text 7"/>
          <p:cNvSpPr txBox="1"/>
          <p:nvPr/>
        </p:nvSpPr>
        <p:spPr>
          <a:xfrm>
            <a:off x="7909560" y="3337560"/>
            <a:ext cx="3474720" cy="595274"/>
          </a:xfrm>
          <a:prstGeom prst="rect">
            <a:avLst/>
          </a:prstGeom>
          <a:noFill/>
          <a:ln/>
        </p:spPr>
        <p:txBody>
          <a:bodyPr wrap="square" lIns="0" tIns="0" rIns="0" bIns="0" rtlCol="0" anchor="ctr"/>
          <a:lstStyle/>
          <a:p>
            <a:pPr indent="0" marL="0">
              <a:buNone/>
            </a:pPr>
            <a:r>
              <a:rPr lang="en-US" sz="2800" b="1" dirty="0">
                <a:solidFill>
                  <a:srgbClr val="4B1D6B"/>
                </a:solidFill>
                <a:latin typeface="Cambria" pitchFamily="34" charset="0"/>
                <a:ea typeface="Cambria" pitchFamily="34" charset="-122"/>
                <a:cs typeface="Cambria" pitchFamily="34" charset="-120"/>
              </a:rPr>
              <a:t>₹0.10</a:t>
            </a:r>
            <a:endParaRPr lang="en-US" sz="2800" dirty="0"/>
          </a:p>
        </p:txBody>
      </p:sp>
      <p:sp>
        <p:nvSpPr>
          <p:cNvPr id="11" name="Text 8"/>
          <p:cNvSpPr txBox="1"/>
          <p:nvPr/>
        </p:nvSpPr>
        <p:spPr>
          <a:xfrm>
            <a:off x="7909560" y="3932834"/>
            <a:ext cx="3474720" cy="340157"/>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Sales per resident in Los Angeles</a:t>
            </a:r>
            <a:endParaRPr lang="en-US" sz="1400" dirty="0"/>
          </a:p>
        </p:txBody>
      </p:sp>
      <p:sp>
        <p:nvSpPr>
          <p:cNvPr id="12" name="Text 9"/>
          <p:cNvSpPr txBox="1"/>
          <p:nvPr/>
        </p:nvSpPr>
        <p:spPr>
          <a:xfrm>
            <a:off x="7909560" y="4272991"/>
            <a:ext cx="3474720" cy="396850"/>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3.97M people; Rialto (103K) gets ₹4.51</a:t>
            </a:r>
            <a:endParaRPr lang="en-US" sz="1200" dirty="0"/>
          </a:p>
        </p:txBody>
      </p:sp>
      <p:sp>
        <p:nvSpPr>
          <p:cNvPr id="13" name="Shape 10"/>
          <p:cNvSpPr/>
          <p:nvPr/>
        </p:nvSpPr>
        <p:spPr>
          <a:xfrm>
            <a:off x="7680960" y="4754880"/>
            <a:ext cx="3931920" cy="1417320"/>
          </a:xfrm>
          <a:prstGeom prst="roundRect">
            <a:avLst>
              <a:gd name="adj" fmla="val 6452"/>
            </a:avLst>
          </a:prstGeom>
          <a:solidFill>
            <a:srgbClr val="F4EEF8"/>
          </a:solidFill>
          <a:ln w="12700">
            <a:solidFill>
              <a:srgbClr val="F4EEF8"/>
            </a:solidFill>
            <a:prstDash val="solid"/>
          </a:ln>
        </p:spPr>
      </p:sp>
      <p:sp>
        <p:nvSpPr>
          <p:cNvPr id="14" name="Text 11"/>
          <p:cNvSpPr txBox="1"/>
          <p:nvPr/>
        </p:nvSpPr>
        <p:spPr>
          <a:xfrm>
            <a:off x="7909560" y="4892040"/>
            <a:ext cx="3474720" cy="595274"/>
          </a:xfrm>
          <a:prstGeom prst="rect">
            <a:avLst/>
          </a:prstGeom>
          <a:noFill/>
          <a:ln/>
        </p:spPr>
        <p:txBody>
          <a:bodyPr wrap="square" lIns="0" tIns="0" rIns="0" bIns="0" rtlCol="0" anchor="ctr"/>
          <a:lstStyle/>
          <a:p>
            <a:pPr indent="0" marL="0">
              <a:buNone/>
            </a:pPr>
            <a:r>
              <a:rPr lang="en-US" sz="2800" b="1" dirty="0">
                <a:solidFill>
                  <a:srgbClr val="4B1D6B"/>
                </a:solidFill>
                <a:latin typeface="Cambria" pitchFamily="34" charset="0"/>
                <a:ea typeface="Cambria" pitchFamily="34" charset="-122"/>
                <a:cs typeface="Cambria" pitchFamily="34" charset="-120"/>
              </a:rPr>
              <a:t>46% vs 10%</a:t>
            </a:r>
            <a:endParaRPr lang="en-US" sz="2800" dirty="0"/>
          </a:p>
        </p:txBody>
      </p:sp>
      <p:sp>
        <p:nvSpPr>
          <p:cNvPr id="15" name="Text 12"/>
          <p:cNvSpPr txBox="1"/>
          <p:nvPr/>
        </p:nvSpPr>
        <p:spPr>
          <a:xfrm>
            <a:off x="7909560" y="5487314"/>
            <a:ext cx="3474720" cy="340157"/>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Share of population vs revenue</a:t>
            </a:r>
            <a:endParaRPr lang="en-US" sz="1400" dirty="0"/>
          </a:p>
        </p:txBody>
      </p:sp>
      <p:sp>
        <p:nvSpPr>
          <p:cNvPr id="16" name="Text 13"/>
          <p:cNvSpPr txBox="1"/>
          <p:nvPr/>
        </p:nvSpPr>
        <p:spPr>
          <a:xfrm>
            <a:off x="7909560" y="5827471"/>
            <a:ext cx="3474720" cy="396850"/>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Eight large cities, incl. San Diego and San Francisco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Budget vs actual: far above target, wrong shape</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Actual and budget by calendar month, 2021 to 15 Mar 2023, ₹ millions</a:t>
            </a:r>
            <a:endParaRPr lang="en-US" sz="1600" dirty="0"/>
          </a:p>
        </p:txBody>
      </p:sp>
      <p:graphicFrame>
        <p:nvGraphicFramePr>
          <p:cNvPr id="4" name="Chart 0" descr=""/>
          <p:cNvGraphicFramePr/>
          <p:nvPr/>
        </p:nvGraphicFramePr>
        <p:xfrm>
          <a:off x="548640" y="1645920"/>
          <a:ext cx="731520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138160" y="1645920"/>
            <a:ext cx="3474720" cy="1417320"/>
          </a:xfrm>
          <a:prstGeom prst="roundRect">
            <a:avLst>
              <a:gd name="adj" fmla="val 6452"/>
            </a:avLst>
          </a:prstGeom>
          <a:solidFill>
            <a:srgbClr val="F4EEF8"/>
          </a:solidFill>
          <a:ln w="12700">
            <a:solidFill>
              <a:srgbClr val="F4EEF8"/>
            </a:solidFill>
            <a:prstDash val="solid"/>
          </a:ln>
        </p:spPr>
      </p:sp>
      <p:sp>
        <p:nvSpPr>
          <p:cNvPr id="6" name="Text 3"/>
          <p:cNvSpPr txBox="1"/>
          <p:nvPr/>
        </p:nvSpPr>
        <p:spPr>
          <a:xfrm>
            <a:off x="8366760" y="1783080"/>
            <a:ext cx="3017520" cy="595274"/>
          </a:xfrm>
          <a:prstGeom prst="rect">
            <a:avLst/>
          </a:prstGeom>
          <a:noFill/>
          <a:ln/>
        </p:spPr>
        <p:txBody>
          <a:bodyPr wrap="square" lIns="0" tIns="0" rIns="0" bIns="0" rtlCol="0" anchor="ctr"/>
          <a:lstStyle/>
          <a:p>
            <a:pPr indent="0" marL="0">
              <a:buNone/>
            </a:pPr>
            <a:r>
              <a:rPr lang="en-US" sz="2600" b="1" dirty="0">
                <a:solidFill>
                  <a:srgbClr val="4B1D6B"/>
                </a:solidFill>
                <a:latin typeface="Cambria" pitchFamily="34" charset="0"/>
                <a:ea typeface="Cambria" pitchFamily="34" charset="-122"/>
                <a:cs typeface="Cambria" pitchFamily="34" charset="-120"/>
              </a:rPr>
              <a:t>366.8%</a:t>
            </a:r>
            <a:endParaRPr lang="en-US" sz="2600" dirty="0"/>
          </a:p>
        </p:txBody>
      </p:sp>
      <p:sp>
        <p:nvSpPr>
          <p:cNvPr id="7" name="Text 4"/>
          <p:cNvSpPr txBox="1"/>
          <p:nvPr/>
        </p:nvSpPr>
        <p:spPr>
          <a:xfrm>
            <a:off x="8366760" y="2378354"/>
            <a:ext cx="3017520" cy="340157"/>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Budget achievement</a:t>
            </a:r>
            <a:endParaRPr lang="en-US" sz="1400" dirty="0"/>
          </a:p>
        </p:txBody>
      </p:sp>
      <p:sp>
        <p:nvSpPr>
          <p:cNvPr id="8" name="Text 5"/>
          <p:cNvSpPr txBox="1"/>
          <p:nvPr/>
        </p:nvSpPr>
        <p:spPr>
          <a:xfrm>
            <a:off x="8366760" y="2718511"/>
            <a:ext cx="3017520" cy="396850"/>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All 74 locations above 100% (166% to 756%)</a:t>
            </a:r>
            <a:endParaRPr lang="en-US" sz="1200" dirty="0"/>
          </a:p>
        </p:txBody>
      </p:sp>
      <p:sp>
        <p:nvSpPr>
          <p:cNvPr id="9" name="Shape 6"/>
          <p:cNvSpPr/>
          <p:nvPr/>
        </p:nvSpPr>
        <p:spPr>
          <a:xfrm>
            <a:off x="8138160" y="3200400"/>
            <a:ext cx="3474720" cy="1417320"/>
          </a:xfrm>
          <a:prstGeom prst="roundRect">
            <a:avLst>
              <a:gd name="adj" fmla="val 6452"/>
            </a:avLst>
          </a:prstGeom>
          <a:solidFill>
            <a:srgbClr val="F4EEF8"/>
          </a:solidFill>
          <a:ln w="12700">
            <a:solidFill>
              <a:srgbClr val="F4EEF8"/>
            </a:solidFill>
            <a:prstDash val="solid"/>
          </a:ln>
        </p:spPr>
      </p:sp>
      <p:sp>
        <p:nvSpPr>
          <p:cNvPr id="10" name="Text 7"/>
          <p:cNvSpPr txBox="1"/>
          <p:nvPr/>
        </p:nvSpPr>
        <p:spPr>
          <a:xfrm>
            <a:off x="8366760" y="3337560"/>
            <a:ext cx="3017520" cy="595274"/>
          </a:xfrm>
          <a:prstGeom prst="rect">
            <a:avLst/>
          </a:prstGeom>
          <a:noFill/>
          <a:ln/>
        </p:spPr>
        <p:txBody>
          <a:bodyPr wrap="square" lIns="0" tIns="0" rIns="0" bIns="0" rtlCol="0" anchor="ctr"/>
          <a:lstStyle/>
          <a:p>
            <a:pPr indent="0" marL="0">
              <a:buNone/>
            </a:pPr>
            <a:r>
              <a:rPr lang="en-US" sz="2600" b="1" dirty="0">
                <a:solidFill>
                  <a:srgbClr val="4B1D6B"/>
                </a:solidFill>
                <a:latin typeface="Cambria" pitchFamily="34" charset="0"/>
                <a:ea typeface="Cambria" pitchFamily="34" charset="-122"/>
                <a:cs typeface="Cambria" pitchFamily="34" charset="-120"/>
              </a:rPr>
              <a:t>June 14%</a:t>
            </a:r>
            <a:endParaRPr lang="en-US" sz="2600" dirty="0"/>
          </a:p>
        </p:txBody>
      </p:sp>
      <p:sp>
        <p:nvSpPr>
          <p:cNvPr id="11" name="Text 8"/>
          <p:cNvSpPr txBox="1"/>
          <p:nvPr/>
        </p:nvSpPr>
        <p:spPr>
          <a:xfrm>
            <a:off x="8366760" y="3932834"/>
            <a:ext cx="3017520" cy="340157"/>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Budget peak vs flat sales</a:t>
            </a:r>
            <a:endParaRPr lang="en-US" sz="1400" dirty="0"/>
          </a:p>
        </p:txBody>
      </p:sp>
      <p:sp>
        <p:nvSpPr>
          <p:cNvPr id="12" name="Text 9"/>
          <p:cNvSpPr txBox="1"/>
          <p:nvPr/>
        </p:nvSpPr>
        <p:spPr>
          <a:xfrm>
            <a:off x="8366760" y="4272991"/>
            <a:ext cx="3017520" cy="396850"/>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Actual is 7.8% to 8.9% of the year every month</a:t>
            </a:r>
            <a:endParaRPr lang="en-US" sz="1200" dirty="0"/>
          </a:p>
        </p:txBody>
      </p:sp>
      <p:sp>
        <p:nvSpPr>
          <p:cNvPr id="13" name="Shape 10"/>
          <p:cNvSpPr/>
          <p:nvPr/>
        </p:nvSpPr>
        <p:spPr>
          <a:xfrm>
            <a:off x="8138160" y="4754880"/>
            <a:ext cx="3474720" cy="1417320"/>
          </a:xfrm>
          <a:prstGeom prst="roundRect">
            <a:avLst>
              <a:gd name="adj" fmla="val 6452"/>
            </a:avLst>
          </a:prstGeom>
          <a:solidFill>
            <a:srgbClr val="F4EEF8"/>
          </a:solidFill>
          <a:ln w="12700">
            <a:solidFill>
              <a:srgbClr val="F4EEF8"/>
            </a:solidFill>
            <a:prstDash val="solid"/>
          </a:ln>
        </p:spPr>
      </p:sp>
      <p:sp>
        <p:nvSpPr>
          <p:cNvPr id="14" name="Text 11"/>
          <p:cNvSpPr txBox="1"/>
          <p:nvPr/>
        </p:nvSpPr>
        <p:spPr>
          <a:xfrm>
            <a:off x="8366760" y="4892040"/>
            <a:ext cx="3017520" cy="595274"/>
          </a:xfrm>
          <a:prstGeom prst="rect">
            <a:avLst/>
          </a:prstGeom>
          <a:noFill/>
          <a:ln/>
        </p:spPr>
        <p:txBody>
          <a:bodyPr wrap="square" lIns="0" tIns="0" rIns="0" bIns="0" rtlCol="0" anchor="ctr"/>
          <a:lstStyle/>
          <a:p>
            <a:pPr indent="0" marL="0">
              <a:buNone/>
            </a:pPr>
            <a:r>
              <a:rPr lang="en-US" sz="2600" b="1" dirty="0">
                <a:solidFill>
                  <a:srgbClr val="4B1D6B"/>
                </a:solidFill>
                <a:latin typeface="Cambria" pitchFamily="34" charset="0"/>
                <a:ea typeface="Cambria" pitchFamily="34" charset="-122"/>
                <a:cs typeface="Cambria" pitchFamily="34" charset="-120"/>
              </a:rPr>
              <a:t>Costa Mesa</a:t>
            </a:r>
            <a:endParaRPr lang="en-US" sz="2600" dirty="0"/>
          </a:p>
        </p:txBody>
      </p:sp>
      <p:sp>
        <p:nvSpPr>
          <p:cNvPr id="15" name="Text 12"/>
          <p:cNvSpPr txBox="1"/>
          <p:nvPr/>
        </p:nvSpPr>
        <p:spPr>
          <a:xfrm>
            <a:off x="8366760" y="5487314"/>
            <a:ext cx="3017520" cy="340157"/>
          </a:xfrm>
          <a:prstGeom prst="rect">
            <a:avLst/>
          </a:prstGeom>
          <a:noFill/>
          <a:ln/>
        </p:spPr>
        <p:txBody>
          <a:bodyPr wrap="square" lIns="0" tIns="0" rIns="0" bIns="0" rtlCol="0" anchor="ctr"/>
          <a:lstStyle/>
          <a:p>
            <a:pPr indent="0" marL="0">
              <a:buNone/>
            </a:pPr>
            <a:r>
              <a:rPr lang="en-US" sz="1400" b="1" dirty="0">
                <a:solidFill>
                  <a:srgbClr val="2B2233"/>
                </a:solidFill>
                <a:latin typeface="Calibri" pitchFamily="34" charset="0"/>
                <a:ea typeface="Calibri" pitchFamily="34" charset="-122"/>
                <a:cs typeface="Calibri" pitchFamily="34" charset="-120"/>
              </a:rPr>
              <a:t>Lowest achievement, 166%</a:t>
            </a:r>
            <a:endParaRPr lang="en-US" sz="1400" dirty="0"/>
          </a:p>
        </p:txBody>
      </p:sp>
      <p:sp>
        <p:nvSpPr>
          <p:cNvPr id="16" name="Text 13"/>
          <p:cNvSpPr txBox="1"/>
          <p:nvPr/>
        </p:nvSpPr>
        <p:spPr>
          <a:xfrm>
            <a:off x="8366760" y="5827471"/>
            <a:ext cx="3017520" cy="396850"/>
          </a:xfrm>
          <a:prstGeom prst="rect">
            <a:avLst/>
          </a:prstGeom>
          <a:noFill/>
          <a:ln/>
        </p:spPr>
        <p:txBody>
          <a:bodyPr wrap="square" lIns="0" tIns="0" rIns="0" bIns="0" rtlCol="0" anchor="t"/>
          <a:lstStyle/>
          <a:p>
            <a:pPr indent="0" marL="0">
              <a:buNone/>
            </a:pPr>
            <a:r>
              <a:rPr lang="en-US" sz="1200" dirty="0">
                <a:solidFill>
                  <a:srgbClr val="6E6478"/>
                </a:solidFill>
                <a:latin typeface="Calibri" pitchFamily="34" charset="0"/>
                <a:ea typeface="Calibri" pitchFamily="34" charset="-122"/>
                <a:cs typeface="Calibri" pitchFamily="34" charset="-120"/>
              </a:rPr>
              <a:t>Below budget in 9 months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Built for business users</a:t>
            </a:r>
            <a:endParaRPr lang="en-US" sz="3200" dirty="0"/>
          </a:p>
        </p:txBody>
      </p:sp>
      <p:sp>
        <p:nvSpPr>
          <p:cNvPr id="3" name="Text 1"/>
          <p:cNvSpPr txBox="1"/>
          <p:nvPr/>
        </p:nvSpPr>
        <p:spPr>
          <a:xfrm>
            <a:off x="548640" y="1005840"/>
            <a:ext cx="11064240" cy="411480"/>
          </a:xfrm>
          <a:prstGeom prst="rect">
            <a:avLst/>
          </a:prstGeom>
          <a:noFill/>
          <a:ln/>
        </p:spPr>
        <p:txBody>
          <a:bodyPr wrap="square" lIns="0" tIns="0" rIns="0" bIns="0" rtlCol="0" anchor="t"/>
          <a:lstStyle/>
          <a:p>
            <a:pPr indent="0" marL="0">
              <a:buNone/>
            </a:pPr>
            <a:r>
              <a:rPr lang="en-US" sz="1600" dirty="0">
                <a:solidFill>
                  <a:srgbClr val="6E6478"/>
                </a:solidFill>
                <a:latin typeface="Calibri" pitchFamily="34" charset="0"/>
                <a:ea typeface="Calibri" pitchFamily="34" charset="-122"/>
                <a:cs typeface="Calibri" pitchFamily="34" charset="-120"/>
              </a:rPr>
              <a:t>Seven report pages plus an advanced analytics page</a:t>
            </a:r>
            <a:endParaRPr lang="en-US" sz="1600" dirty="0"/>
          </a:p>
        </p:txBody>
      </p:sp>
      <p:sp>
        <p:nvSpPr>
          <p:cNvPr id="4" name="Shape 2"/>
          <p:cNvSpPr/>
          <p:nvPr/>
        </p:nvSpPr>
        <p:spPr>
          <a:xfrm>
            <a:off x="548640" y="1691640"/>
            <a:ext cx="2057400" cy="2743200"/>
          </a:xfrm>
          <a:prstGeom prst="roundRect">
            <a:avLst>
              <a:gd name="adj" fmla="val 444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31520" y="1874520"/>
            <a:ext cx="457200" cy="457200"/>
          </a:xfrm>
          <a:prstGeom prst="ellipse">
            <a:avLst/>
          </a:prstGeom>
          <a:solidFill>
            <a:srgbClr val="4B1D6B"/>
          </a:solidFill>
          <a:ln w="12700">
            <a:solidFill>
              <a:srgbClr val="4B1D6B"/>
            </a:solidFill>
            <a:prstDash val="solid"/>
          </a:ln>
        </p:spPr>
      </p:sp>
      <p:sp>
        <p:nvSpPr>
          <p:cNvPr id="6" name="Text 4"/>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31520" y="2468880"/>
            <a:ext cx="1737360" cy="365760"/>
          </a:xfrm>
          <a:prstGeom prst="rect">
            <a:avLst/>
          </a:prstGeom>
          <a:noFill/>
          <a:ln/>
        </p:spPr>
        <p:txBody>
          <a:bodyPr wrap="square" lIns="0" tIns="0" rIns="0" bIns="0" rtlCol="0" anchor="t"/>
          <a:lstStyle/>
          <a:p>
            <a:pPr indent="0" marL="0">
              <a:buNone/>
            </a:pPr>
            <a:r>
              <a:rPr lang="en-US" sz="1600" b="1" dirty="0">
                <a:solidFill>
                  <a:srgbClr val="2E0F45"/>
                </a:solidFill>
                <a:latin typeface="Calibri" pitchFamily="34" charset="0"/>
                <a:ea typeface="Calibri" pitchFamily="34" charset="-122"/>
                <a:cs typeface="Calibri" pitchFamily="34" charset="-120"/>
              </a:rPr>
              <a:t>Slicers</a:t>
            </a:r>
            <a:endParaRPr lang="en-US" sz="1600" dirty="0"/>
          </a:p>
        </p:txBody>
      </p:sp>
      <p:sp>
        <p:nvSpPr>
          <p:cNvPr id="8" name="Text 6"/>
          <p:cNvSpPr txBox="1"/>
          <p:nvPr/>
        </p:nvSpPr>
        <p:spPr>
          <a:xfrm>
            <a:off x="731520" y="2880360"/>
            <a:ext cx="1737360" cy="146304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Year, Month, Location, Product, Customer and Salesperson, synced across pages with one-click reset.</a:t>
            </a:r>
            <a:endParaRPr lang="en-US" sz="1300" dirty="0"/>
          </a:p>
        </p:txBody>
      </p:sp>
      <p:sp>
        <p:nvSpPr>
          <p:cNvPr id="9" name="Shape 7"/>
          <p:cNvSpPr/>
          <p:nvPr/>
        </p:nvSpPr>
        <p:spPr>
          <a:xfrm>
            <a:off x="2788920" y="1691640"/>
            <a:ext cx="2057400" cy="2743200"/>
          </a:xfrm>
          <a:prstGeom prst="roundRect">
            <a:avLst>
              <a:gd name="adj" fmla="val 444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2971800" y="1874520"/>
            <a:ext cx="457200" cy="457200"/>
          </a:xfrm>
          <a:prstGeom prst="ellipse">
            <a:avLst/>
          </a:prstGeom>
          <a:solidFill>
            <a:srgbClr val="4B1D6B"/>
          </a:solidFill>
          <a:ln w="12700">
            <a:solidFill>
              <a:srgbClr val="4B1D6B"/>
            </a:solidFill>
            <a:prstDash val="solid"/>
          </a:ln>
        </p:spPr>
      </p:sp>
      <p:sp>
        <p:nvSpPr>
          <p:cNvPr id="11" name="Text 9"/>
          <p:cNvSpPr txBox="1"/>
          <p:nvPr/>
        </p:nvSpPr>
        <p:spPr>
          <a:xfrm>
            <a:off x="297180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2971800" y="2468880"/>
            <a:ext cx="1737360" cy="365760"/>
          </a:xfrm>
          <a:prstGeom prst="rect">
            <a:avLst/>
          </a:prstGeom>
          <a:noFill/>
          <a:ln/>
        </p:spPr>
        <p:txBody>
          <a:bodyPr wrap="square" lIns="0" tIns="0" rIns="0" bIns="0" rtlCol="0" anchor="t"/>
          <a:lstStyle/>
          <a:p>
            <a:pPr indent="0" marL="0">
              <a:buNone/>
            </a:pPr>
            <a:r>
              <a:rPr lang="en-US" sz="1600" b="1" dirty="0">
                <a:solidFill>
                  <a:srgbClr val="2E0F45"/>
                </a:solidFill>
                <a:latin typeface="Calibri" pitchFamily="34" charset="0"/>
                <a:ea typeface="Calibri" pitchFamily="34" charset="-122"/>
                <a:cs typeface="Calibri" pitchFamily="34" charset="-120"/>
              </a:rPr>
              <a:t>Drill-down</a:t>
            </a:r>
            <a:endParaRPr lang="en-US" sz="1600" dirty="0"/>
          </a:p>
        </p:txBody>
      </p:sp>
      <p:sp>
        <p:nvSpPr>
          <p:cNvPr id="13" name="Text 11"/>
          <p:cNvSpPr txBox="1"/>
          <p:nvPr/>
        </p:nvSpPr>
        <p:spPr>
          <a:xfrm>
            <a:off x="2971800" y="2880360"/>
            <a:ext cx="1737360" cy="146304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Year, Quarter, Month, Date. County to Location.</a:t>
            </a:r>
            <a:endParaRPr lang="en-US" sz="1300" dirty="0"/>
          </a:p>
        </p:txBody>
      </p:sp>
      <p:sp>
        <p:nvSpPr>
          <p:cNvPr id="14" name="Shape 12"/>
          <p:cNvSpPr/>
          <p:nvPr/>
        </p:nvSpPr>
        <p:spPr>
          <a:xfrm>
            <a:off x="5029200" y="1691640"/>
            <a:ext cx="2057400" cy="2743200"/>
          </a:xfrm>
          <a:prstGeom prst="roundRect">
            <a:avLst>
              <a:gd name="adj" fmla="val 444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15" name="Shape 13"/>
          <p:cNvSpPr/>
          <p:nvPr/>
        </p:nvSpPr>
        <p:spPr>
          <a:xfrm>
            <a:off x="5212080" y="1874520"/>
            <a:ext cx="457200" cy="457200"/>
          </a:xfrm>
          <a:prstGeom prst="ellipse">
            <a:avLst/>
          </a:prstGeom>
          <a:solidFill>
            <a:srgbClr val="4B1D6B"/>
          </a:solidFill>
          <a:ln w="12700">
            <a:solidFill>
              <a:srgbClr val="4B1D6B"/>
            </a:solidFill>
            <a:prstDash val="solid"/>
          </a:ln>
        </p:spPr>
      </p:sp>
      <p:sp>
        <p:nvSpPr>
          <p:cNvPr id="16" name="Text 14"/>
          <p:cNvSpPr txBox="1"/>
          <p:nvPr/>
        </p:nvSpPr>
        <p:spPr>
          <a:xfrm>
            <a:off x="521208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5212080" y="2468880"/>
            <a:ext cx="1737360" cy="365760"/>
          </a:xfrm>
          <a:prstGeom prst="rect">
            <a:avLst/>
          </a:prstGeom>
          <a:noFill/>
          <a:ln/>
        </p:spPr>
        <p:txBody>
          <a:bodyPr wrap="square" lIns="0" tIns="0" rIns="0" bIns="0" rtlCol="0" anchor="t"/>
          <a:lstStyle/>
          <a:p>
            <a:pPr indent="0" marL="0">
              <a:buNone/>
            </a:pPr>
            <a:r>
              <a:rPr lang="en-US" sz="1600" b="1" dirty="0">
                <a:solidFill>
                  <a:srgbClr val="2E0F45"/>
                </a:solidFill>
                <a:latin typeface="Calibri" pitchFamily="34" charset="0"/>
                <a:ea typeface="Calibri" pitchFamily="34" charset="-122"/>
                <a:cs typeface="Calibri" pitchFamily="34" charset="-120"/>
              </a:rPr>
              <a:t>Drill-through</a:t>
            </a:r>
            <a:endParaRPr lang="en-US" sz="1600" dirty="0"/>
          </a:p>
        </p:txBody>
      </p:sp>
      <p:sp>
        <p:nvSpPr>
          <p:cNvPr id="18" name="Text 16"/>
          <p:cNvSpPr txBox="1"/>
          <p:nvPr/>
        </p:nvSpPr>
        <p:spPr>
          <a:xfrm>
            <a:off x="5212080" y="2880360"/>
            <a:ext cx="1737360" cy="146304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Right-click a product, customer, salesperson or location to open its detail page.</a:t>
            </a:r>
            <a:endParaRPr lang="en-US" sz="1300" dirty="0"/>
          </a:p>
        </p:txBody>
      </p:sp>
      <p:sp>
        <p:nvSpPr>
          <p:cNvPr id="19" name="Shape 17"/>
          <p:cNvSpPr/>
          <p:nvPr/>
        </p:nvSpPr>
        <p:spPr>
          <a:xfrm>
            <a:off x="7269480" y="1691640"/>
            <a:ext cx="2057400" cy="2743200"/>
          </a:xfrm>
          <a:prstGeom prst="roundRect">
            <a:avLst>
              <a:gd name="adj" fmla="val 444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20" name="Shape 18"/>
          <p:cNvSpPr/>
          <p:nvPr/>
        </p:nvSpPr>
        <p:spPr>
          <a:xfrm>
            <a:off x="7452360" y="1874520"/>
            <a:ext cx="457200" cy="457200"/>
          </a:xfrm>
          <a:prstGeom prst="ellipse">
            <a:avLst/>
          </a:prstGeom>
          <a:solidFill>
            <a:srgbClr val="4B1D6B"/>
          </a:solidFill>
          <a:ln w="12700">
            <a:solidFill>
              <a:srgbClr val="4B1D6B"/>
            </a:solidFill>
            <a:prstDash val="solid"/>
          </a:ln>
        </p:spPr>
      </p:sp>
      <p:sp>
        <p:nvSpPr>
          <p:cNvPr id="21" name="Text 19"/>
          <p:cNvSpPr txBox="1"/>
          <p:nvPr/>
        </p:nvSpPr>
        <p:spPr>
          <a:xfrm>
            <a:off x="745236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7452360" y="2468880"/>
            <a:ext cx="1737360" cy="365760"/>
          </a:xfrm>
          <a:prstGeom prst="rect">
            <a:avLst/>
          </a:prstGeom>
          <a:noFill/>
          <a:ln/>
        </p:spPr>
        <p:txBody>
          <a:bodyPr wrap="square" lIns="0" tIns="0" rIns="0" bIns="0" rtlCol="0" anchor="t"/>
          <a:lstStyle/>
          <a:p>
            <a:pPr indent="0" marL="0">
              <a:buNone/>
            </a:pPr>
            <a:r>
              <a:rPr lang="en-US" sz="1600" b="1" dirty="0">
                <a:solidFill>
                  <a:srgbClr val="2E0F45"/>
                </a:solidFill>
                <a:latin typeface="Calibri" pitchFamily="34" charset="0"/>
                <a:ea typeface="Calibri" pitchFamily="34" charset="-122"/>
                <a:cs typeface="Calibri" pitchFamily="34" charset="-120"/>
              </a:rPr>
              <a:t>Tooltips</a:t>
            </a:r>
            <a:endParaRPr lang="en-US" sz="1600" dirty="0"/>
          </a:p>
        </p:txBody>
      </p:sp>
      <p:sp>
        <p:nvSpPr>
          <p:cNvPr id="23" name="Text 21"/>
          <p:cNvSpPr txBox="1"/>
          <p:nvPr/>
        </p:nvSpPr>
        <p:spPr>
          <a:xfrm>
            <a:off x="7452360" y="2880360"/>
            <a:ext cx="1737360" cy="146304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Hover a bar for a mini report: sales, profit, margin and share.</a:t>
            </a:r>
            <a:endParaRPr lang="en-US" sz="1300" dirty="0"/>
          </a:p>
        </p:txBody>
      </p:sp>
      <p:sp>
        <p:nvSpPr>
          <p:cNvPr id="24" name="Shape 22"/>
          <p:cNvSpPr/>
          <p:nvPr/>
        </p:nvSpPr>
        <p:spPr>
          <a:xfrm>
            <a:off x="9509760" y="1691640"/>
            <a:ext cx="2057400" cy="2743200"/>
          </a:xfrm>
          <a:prstGeom prst="roundRect">
            <a:avLst>
              <a:gd name="adj" fmla="val 4444"/>
            </a:avLst>
          </a:prstGeom>
          <a:solidFill>
            <a:srgbClr val="F4EEF8"/>
          </a:solidFill>
          <a:ln w="12700">
            <a:solidFill>
              <a:srgbClr val="F4EEF8"/>
            </a:solidFill>
            <a:prstDash val="solid"/>
          </a:ln>
          <a:effectLst>
            <a:outerShdw sx="100000" sy="100000" kx="0" ky="0" algn="bl" rotWithShape="0" blurRad="101600" dist="25400" dir="5400000">
              <a:srgbClr val="000000">
                <a:alpha val="12000"/>
              </a:srgbClr>
            </a:outerShdw>
          </a:effectLst>
        </p:spPr>
      </p:sp>
      <p:sp>
        <p:nvSpPr>
          <p:cNvPr id="25" name="Shape 23"/>
          <p:cNvSpPr/>
          <p:nvPr/>
        </p:nvSpPr>
        <p:spPr>
          <a:xfrm>
            <a:off x="9692640" y="1874520"/>
            <a:ext cx="457200" cy="457200"/>
          </a:xfrm>
          <a:prstGeom prst="ellipse">
            <a:avLst/>
          </a:prstGeom>
          <a:solidFill>
            <a:srgbClr val="4B1D6B"/>
          </a:solidFill>
          <a:ln w="12700">
            <a:solidFill>
              <a:srgbClr val="4B1D6B"/>
            </a:solidFill>
            <a:prstDash val="solid"/>
          </a:ln>
        </p:spPr>
      </p:sp>
      <p:sp>
        <p:nvSpPr>
          <p:cNvPr id="26" name="Text 24"/>
          <p:cNvSpPr txBox="1"/>
          <p:nvPr/>
        </p:nvSpPr>
        <p:spPr>
          <a:xfrm>
            <a:off x="9692640" y="1874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7" name="Text 25"/>
          <p:cNvSpPr txBox="1"/>
          <p:nvPr/>
        </p:nvSpPr>
        <p:spPr>
          <a:xfrm>
            <a:off x="9692640" y="2468880"/>
            <a:ext cx="1737360" cy="365760"/>
          </a:xfrm>
          <a:prstGeom prst="rect">
            <a:avLst/>
          </a:prstGeom>
          <a:noFill/>
          <a:ln/>
        </p:spPr>
        <p:txBody>
          <a:bodyPr wrap="square" lIns="0" tIns="0" rIns="0" bIns="0" rtlCol="0" anchor="t"/>
          <a:lstStyle/>
          <a:p>
            <a:pPr indent="0" marL="0">
              <a:buNone/>
            </a:pPr>
            <a:r>
              <a:rPr lang="en-US" sz="1600" b="1" dirty="0">
                <a:solidFill>
                  <a:srgbClr val="2E0F45"/>
                </a:solidFill>
                <a:latin typeface="Calibri" pitchFamily="34" charset="0"/>
                <a:ea typeface="Calibri" pitchFamily="34" charset="-122"/>
                <a:cs typeface="Calibri" pitchFamily="34" charset="-120"/>
              </a:rPr>
              <a:t>Cross-filtering</a:t>
            </a:r>
            <a:endParaRPr lang="en-US" sz="1600" dirty="0"/>
          </a:p>
        </p:txBody>
      </p:sp>
      <p:sp>
        <p:nvSpPr>
          <p:cNvPr id="28" name="Text 26"/>
          <p:cNvSpPr txBox="1"/>
          <p:nvPr/>
        </p:nvSpPr>
        <p:spPr>
          <a:xfrm>
            <a:off x="9692640" y="2880360"/>
            <a:ext cx="1737360" cy="1463040"/>
          </a:xfrm>
          <a:prstGeom prst="rect">
            <a:avLst/>
          </a:prstGeom>
          <a:noFill/>
          <a:ln/>
        </p:spPr>
        <p:txBody>
          <a:bodyPr wrap="square" lIns="0" tIns="0" rIns="0" bIns="0" rtlCol="0" anchor="t"/>
          <a:lstStyle/>
          <a:p>
            <a:pPr indent="0" marL="0">
              <a:buNone/>
            </a:pPr>
            <a:r>
              <a:rPr lang="en-US" sz="1300" dirty="0">
                <a:solidFill>
                  <a:srgbClr val="2B2233"/>
                </a:solidFill>
                <a:latin typeface="Calibri" pitchFamily="34" charset="0"/>
                <a:ea typeface="Calibri" pitchFamily="34" charset="-122"/>
                <a:cs typeface="Calibri" pitchFamily="34" charset="-120"/>
              </a:rPr>
              <a:t>Click any visual to filter the rest. Budget visuals ignore irrelevant filters.</a:t>
            </a:r>
            <a:endParaRPr lang="en-US" sz="1300" dirty="0"/>
          </a:p>
        </p:txBody>
      </p:sp>
      <p:sp>
        <p:nvSpPr>
          <p:cNvPr id="29" name="Shape 27"/>
          <p:cNvSpPr/>
          <p:nvPr/>
        </p:nvSpPr>
        <p:spPr>
          <a:xfrm>
            <a:off x="548640" y="4754880"/>
            <a:ext cx="11064240" cy="1188720"/>
          </a:xfrm>
          <a:prstGeom prst="roundRect">
            <a:avLst>
              <a:gd name="adj" fmla="val 7692"/>
            </a:avLst>
          </a:prstGeom>
          <a:solidFill>
            <a:srgbClr val="FFFFFF"/>
          </a:solidFill>
          <a:ln w="12700">
            <a:solidFill>
              <a:srgbClr val="FFFFFF"/>
            </a:solidFill>
            <a:prstDash val="solid"/>
          </a:ln>
        </p:spPr>
      </p:sp>
      <p:sp>
        <p:nvSpPr>
          <p:cNvPr id="30" name="Shape 28"/>
          <p:cNvSpPr/>
          <p:nvPr/>
        </p:nvSpPr>
        <p:spPr>
          <a:xfrm>
            <a:off x="548640" y="4754880"/>
            <a:ext cx="11064240" cy="1188720"/>
          </a:xfrm>
          <a:prstGeom prst="roundRect">
            <a:avLst>
              <a:gd name="adj" fmla="val 7692"/>
            </a:avLst>
          </a:prstGeom>
          <a:solidFill>
            <a:srgbClr val="FFFFFF"/>
          </a:solidFill>
          <a:ln w="15875">
            <a:solidFill>
              <a:srgbClr val="D9C9E6"/>
            </a:solidFill>
            <a:prstDash val="solid"/>
          </a:ln>
        </p:spPr>
      </p:sp>
      <p:sp>
        <p:nvSpPr>
          <p:cNvPr id="31" name="Text 29"/>
          <p:cNvSpPr txBox="1"/>
          <p:nvPr/>
        </p:nvSpPr>
        <p:spPr>
          <a:xfrm>
            <a:off x="777240" y="4846320"/>
            <a:ext cx="10607040" cy="1005840"/>
          </a:xfrm>
          <a:prstGeom prst="rect">
            <a:avLst/>
          </a:prstGeom>
          <a:noFill/>
          <a:ln/>
        </p:spPr>
        <p:txBody>
          <a:bodyPr wrap="square" lIns="0" tIns="0" rIns="0" bIns="0" rtlCol="0" anchor="ctr"/>
          <a:lstStyle/>
          <a:p>
            <a:pPr indent="0" marL="0">
              <a:buNone/>
            </a:pPr>
            <a:r>
              <a:rPr lang="en-US" sz="1500" b="1" dirty="0">
                <a:solidFill>
                  <a:srgbClr val="4B1D6B"/>
                </a:solidFill>
                <a:latin typeface="Calibri" pitchFamily="34" charset="0"/>
                <a:ea typeface="Calibri" pitchFamily="34" charset="-122"/>
                <a:cs typeface="Calibri" pitchFamily="34" charset="-120"/>
              </a:rPr>
              <a:t>Advanced analytics page: </a:t>
            </a:r>
            <a:pPr indent="0" marL="0">
              <a:buNone/>
            </a:pPr>
            <a:r>
              <a:rPr lang="en-US" sz="1500" dirty="0">
                <a:solidFill>
                  <a:srgbClr val="2B2233"/>
                </a:solidFill>
                <a:latin typeface="Calibri" pitchFamily="34" charset="0"/>
                <a:ea typeface="Calibri" pitchFamily="34" charset="-122"/>
                <a:cs typeface="Calibri" pitchFamily="34" charset="-120"/>
              </a:rPr>
              <a:t>running total, month-over-month growth, a DATEADD year comparison and a dynamic Top N chart driven by a parameter, with a title that updates itself.</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Top 5 findings</a:t>
            </a:r>
            <a:endParaRPr lang="en-US" sz="3200" dirty="0"/>
          </a:p>
        </p:txBody>
      </p:sp>
      <p:sp>
        <p:nvSpPr>
          <p:cNvPr id="3" name="Shape 1"/>
          <p:cNvSpPr/>
          <p:nvPr/>
        </p:nvSpPr>
        <p:spPr>
          <a:xfrm>
            <a:off x="548640" y="1325880"/>
            <a:ext cx="11064240" cy="841248"/>
          </a:xfrm>
          <a:prstGeom prst="roundRect">
            <a:avLst>
              <a:gd name="adj" fmla="val 10870"/>
            </a:avLst>
          </a:prstGeom>
          <a:solidFill>
            <a:srgbClr val="F4EEF8"/>
          </a:solidFill>
          <a:ln w="12700">
            <a:solidFill>
              <a:srgbClr val="F4EEF8"/>
            </a:solidFill>
            <a:prstDash val="solid"/>
          </a:ln>
        </p:spPr>
      </p:sp>
      <p:sp>
        <p:nvSpPr>
          <p:cNvPr id="4" name="Shape 2"/>
          <p:cNvSpPr/>
          <p:nvPr/>
        </p:nvSpPr>
        <p:spPr>
          <a:xfrm>
            <a:off x="731520" y="1517904"/>
            <a:ext cx="457200" cy="457200"/>
          </a:xfrm>
          <a:prstGeom prst="ellipse">
            <a:avLst/>
          </a:prstGeom>
          <a:solidFill>
            <a:srgbClr val="4B1D6B"/>
          </a:solidFill>
          <a:ln w="12700">
            <a:solidFill>
              <a:srgbClr val="4B1D6B"/>
            </a:solidFill>
            <a:prstDash val="solid"/>
          </a:ln>
        </p:spPr>
      </p:sp>
      <p:sp>
        <p:nvSpPr>
          <p:cNvPr id="5" name="Text 3"/>
          <p:cNvSpPr txBox="1"/>
          <p:nvPr/>
        </p:nvSpPr>
        <p:spPr>
          <a:xfrm>
            <a:off x="731520" y="15179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463040" y="1325880"/>
            <a:ext cx="9966960" cy="841248"/>
          </a:xfrm>
          <a:prstGeom prst="rect">
            <a:avLst/>
          </a:prstGeom>
          <a:noFill/>
          <a:ln/>
        </p:spPr>
        <p:txBody>
          <a:bodyPr wrap="square" lIns="0" tIns="0" rIns="0" bIns="0" rtlCol="0" anchor="ctr"/>
          <a:lstStyle/>
          <a:p>
            <a:pPr indent="0" marL="0">
              <a:buNone/>
            </a:pPr>
            <a:r>
              <a:rPr lang="en-US" sz="1600" b="1" dirty="0">
                <a:solidFill>
                  <a:srgbClr val="2E0F45"/>
                </a:solidFill>
                <a:latin typeface="Calibri" pitchFamily="34" charset="0"/>
                <a:ea typeface="Calibri" pitchFamily="34" charset="-122"/>
                <a:cs typeface="Calibri" pitchFamily="34" charset="-120"/>
              </a:rPr>
              <a:t>Profitable and stable, but flat.  </a:t>
            </a:r>
            <a:pPr indent="0" marL="0">
              <a:buNone/>
            </a:pPr>
            <a:r>
              <a:rPr lang="en-US" sz="1600" dirty="0">
                <a:solidFill>
                  <a:srgbClr val="2B2233"/>
                </a:solidFill>
                <a:latin typeface="Calibri" pitchFamily="34" charset="0"/>
                <a:ea typeface="Calibri" pitchFamily="34" charset="-122"/>
                <a:cs typeface="Calibri" pitchFamily="34" charset="-120"/>
              </a:rPr>
              <a:t>Revenue ₹25.66M, margin 32.5%; 2022 was 1.1% below 2021.</a:t>
            </a:r>
            <a:endParaRPr lang="en-US" sz="1600" dirty="0"/>
          </a:p>
        </p:txBody>
      </p:sp>
      <p:sp>
        <p:nvSpPr>
          <p:cNvPr id="7" name="Shape 5"/>
          <p:cNvSpPr/>
          <p:nvPr/>
        </p:nvSpPr>
        <p:spPr>
          <a:xfrm>
            <a:off x="548640" y="2286000"/>
            <a:ext cx="11064240" cy="841248"/>
          </a:xfrm>
          <a:prstGeom prst="roundRect">
            <a:avLst>
              <a:gd name="adj" fmla="val 10870"/>
            </a:avLst>
          </a:prstGeom>
          <a:solidFill>
            <a:srgbClr val="F4EEF8"/>
          </a:solidFill>
          <a:ln w="12700">
            <a:solidFill>
              <a:srgbClr val="F4EEF8"/>
            </a:solidFill>
            <a:prstDash val="solid"/>
          </a:ln>
        </p:spPr>
      </p:sp>
      <p:sp>
        <p:nvSpPr>
          <p:cNvPr id="8" name="Shape 6"/>
          <p:cNvSpPr/>
          <p:nvPr/>
        </p:nvSpPr>
        <p:spPr>
          <a:xfrm>
            <a:off x="731520" y="2478024"/>
            <a:ext cx="457200" cy="457200"/>
          </a:xfrm>
          <a:prstGeom prst="ellipse">
            <a:avLst/>
          </a:prstGeom>
          <a:solidFill>
            <a:srgbClr val="4B1D6B"/>
          </a:solidFill>
          <a:ln w="12700">
            <a:solidFill>
              <a:srgbClr val="4B1D6B"/>
            </a:solidFill>
            <a:prstDash val="solid"/>
          </a:ln>
        </p:spPr>
      </p:sp>
      <p:sp>
        <p:nvSpPr>
          <p:cNvPr id="9" name="Text 7"/>
          <p:cNvSpPr txBox="1"/>
          <p:nvPr/>
        </p:nvSpPr>
        <p:spPr>
          <a:xfrm>
            <a:off x="731520" y="247802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63040" y="2286000"/>
            <a:ext cx="9966960" cy="841248"/>
          </a:xfrm>
          <a:prstGeom prst="rect">
            <a:avLst/>
          </a:prstGeom>
          <a:noFill/>
          <a:ln/>
        </p:spPr>
        <p:txBody>
          <a:bodyPr wrap="square" lIns="0" tIns="0" rIns="0" bIns="0" rtlCol="0" anchor="ctr"/>
          <a:lstStyle/>
          <a:p>
            <a:pPr indent="0" marL="0">
              <a:buNone/>
            </a:pPr>
            <a:r>
              <a:rPr lang="en-US" sz="1600" b="1" dirty="0">
                <a:solidFill>
                  <a:srgbClr val="2E0F45"/>
                </a:solidFill>
                <a:latin typeface="Calibri" pitchFamily="34" charset="0"/>
                <a:ea typeface="Calibri" pitchFamily="34" charset="-122"/>
                <a:cs typeface="Calibri" pitchFamily="34" charset="-120"/>
              </a:rPr>
              <a:t>Performance is remarkably even.  </a:t>
            </a:r>
            <a:pPr indent="0" marL="0">
              <a:buNone/>
            </a:pPr>
            <a:r>
              <a:rPr lang="en-US" sz="1600" dirty="0">
                <a:solidFill>
                  <a:srgbClr val="2B2233"/>
                </a:solidFill>
                <a:latin typeface="Calibri" pitchFamily="34" charset="0"/>
                <a:ea typeface="Calibri" pitchFamily="34" charset="-122"/>
                <a:cs typeface="Calibri" pitchFamily="34" charset="-120"/>
              </a:rPr>
              <a:t>Every location sells ₹277K to ₹466K; every salesperson ₹436K to ₹679K.</a:t>
            </a:r>
            <a:endParaRPr lang="en-US" sz="1600" dirty="0"/>
          </a:p>
        </p:txBody>
      </p:sp>
      <p:sp>
        <p:nvSpPr>
          <p:cNvPr id="11" name="Shape 9"/>
          <p:cNvSpPr/>
          <p:nvPr/>
        </p:nvSpPr>
        <p:spPr>
          <a:xfrm>
            <a:off x="548640" y="3246120"/>
            <a:ext cx="11064240" cy="841248"/>
          </a:xfrm>
          <a:prstGeom prst="roundRect">
            <a:avLst>
              <a:gd name="adj" fmla="val 10870"/>
            </a:avLst>
          </a:prstGeom>
          <a:solidFill>
            <a:srgbClr val="F4EEF8"/>
          </a:solidFill>
          <a:ln w="12700">
            <a:solidFill>
              <a:srgbClr val="F4EEF8"/>
            </a:solidFill>
            <a:prstDash val="solid"/>
          </a:ln>
        </p:spPr>
      </p:sp>
      <p:sp>
        <p:nvSpPr>
          <p:cNvPr id="12" name="Shape 10"/>
          <p:cNvSpPr/>
          <p:nvPr/>
        </p:nvSpPr>
        <p:spPr>
          <a:xfrm>
            <a:off x="731520" y="3438144"/>
            <a:ext cx="457200" cy="457200"/>
          </a:xfrm>
          <a:prstGeom prst="ellipse">
            <a:avLst/>
          </a:prstGeom>
          <a:solidFill>
            <a:srgbClr val="4B1D6B"/>
          </a:solidFill>
          <a:ln w="12700">
            <a:solidFill>
              <a:srgbClr val="4B1D6B"/>
            </a:solidFill>
            <a:prstDash val="solid"/>
          </a:ln>
        </p:spPr>
      </p:sp>
      <p:sp>
        <p:nvSpPr>
          <p:cNvPr id="13" name="Text 11"/>
          <p:cNvSpPr txBox="1"/>
          <p:nvPr/>
        </p:nvSpPr>
        <p:spPr>
          <a:xfrm>
            <a:off x="731520" y="34381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463040" y="3246120"/>
            <a:ext cx="9966960" cy="841248"/>
          </a:xfrm>
          <a:prstGeom prst="rect">
            <a:avLst/>
          </a:prstGeom>
          <a:noFill/>
          <a:ln/>
        </p:spPr>
        <p:txBody>
          <a:bodyPr wrap="square" lIns="0" tIns="0" rIns="0" bIns="0" rtlCol="0" anchor="ctr"/>
          <a:lstStyle/>
          <a:p>
            <a:pPr indent="0" marL="0">
              <a:buNone/>
            </a:pPr>
            <a:r>
              <a:rPr lang="en-US" sz="1600" b="1" dirty="0">
                <a:solidFill>
                  <a:srgbClr val="2E0F45"/>
                </a:solidFill>
                <a:latin typeface="Calibri" pitchFamily="34" charset="0"/>
                <a:ea typeface="Calibri" pitchFamily="34" charset="-122"/>
                <a:cs typeface="Calibri" pitchFamily="34" charset="-120"/>
              </a:rPr>
              <a:t>No concentration risk.  </a:t>
            </a:r>
            <a:pPr indent="0" marL="0">
              <a:buNone/>
            </a:pPr>
            <a:r>
              <a:rPr lang="en-US" sz="1600" dirty="0">
                <a:solidFill>
                  <a:srgbClr val="2B2233"/>
                </a:solidFill>
                <a:latin typeface="Calibri" pitchFamily="34" charset="0"/>
                <a:ea typeface="Calibri" pitchFamily="34" charset="-122"/>
                <a:cs typeface="Calibri" pitchFamily="34" charset="-120"/>
              </a:rPr>
              <a:t>Top 10 customers are 2.6% of sales; top 10 products are 20.5%.</a:t>
            </a:r>
            <a:endParaRPr lang="en-US" sz="1600" dirty="0"/>
          </a:p>
        </p:txBody>
      </p:sp>
      <p:sp>
        <p:nvSpPr>
          <p:cNvPr id="15" name="Shape 13"/>
          <p:cNvSpPr/>
          <p:nvPr/>
        </p:nvSpPr>
        <p:spPr>
          <a:xfrm>
            <a:off x="548640" y="4206240"/>
            <a:ext cx="11064240" cy="841248"/>
          </a:xfrm>
          <a:prstGeom prst="roundRect">
            <a:avLst>
              <a:gd name="adj" fmla="val 10870"/>
            </a:avLst>
          </a:prstGeom>
          <a:solidFill>
            <a:srgbClr val="F4EEF8"/>
          </a:solidFill>
          <a:ln w="12700">
            <a:solidFill>
              <a:srgbClr val="F4EEF8"/>
            </a:solidFill>
            <a:prstDash val="solid"/>
          </a:ln>
        </p:spPr>
      </p:sp>
      <p:sp>
        <p:nvSpPr>
          <p:cNvPr id="16" name="Shape 14"/>
          <p:cNvSpPr/>
          <p:nvPr/>
        </p:nvSpPr>
        <p:spPr>
          <a:xfrm>
            <a:off x="731520" y="4398264"/>
            <a:ext cx="457200" cy="457200"/>
          </a:xfrm>
          <a:prstGeom prst="ellipse">
            <a:avLst/>
          </a:prstGeom>
          <a:solidFill>
            <a:srgbClr val="4B1D6B"/>
          </a:solidFill>
          <a:ln w="12700">
            <a:solidFill>
              <a:srgbClr val="4B1D6B"/>
            </a:solidFill>
            <a:prstDash val="solid"/>
          </a:ln>
        </p:spPr>
      </p:sp>
      <p:sp>
        <p:nvSpPr>
          <p:cNvPr id="17" name="Text 15"/>
          <p:cNvSpPr txBox="1"/>
          <p:nvPr/>
        </p:nvSpPr>
        <p:spPr>
          <a:xfrm>
            <a:off x="731520" y="43982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1463040" y="4206240"/>
            <a:ext cx="9966960" cy="841248"/>
          </a:xfrm>
          <a:prstGeom prst="rect">
            <a:avLst/>
          </a:prstGeom>
          <a:noFill/>
          <a:ln/>
        </p:spPr>
        <p:txBody>
          <a:bodyPr wrap="square" lIns="0" tIns="0" rIns="0" bIns="0" rtlCol="0" anchor="ctr"/>
          <a:lstStyle/>
          <a:p>
            <a:pPr indent="0" marL="0">
              <a:buNone/>
            </a:pPr>
            <a:r>
              <a:rPr lang="en-US" sz="1600" b="1" dirty="0">
                <a:solidFill>
                  <a:srgbClr val="2E0F45"/>
                </a:solidFill>
                <a:latin typeface="Calibri" pitchFamily="34" charset="0"/>
                <a:ea typeface="Calibri" pitchFamily="34" charset="-122"/>
                <a:cs typeface="Calibri" pitchFamily="34" charset="-120"/>
              </a:rPr>
              <a:t>Margin depends on the mix.  </a:t>
            </a:r>
            <a:pPr indent="0" marL="0">
              <a:buNone/>
            </a:pPr>
            <a:r>
              <a:rPr lang="en-US" sz="1600" dirty="0">
                <a:solidFill>
                  <a:srgbClr val="2B2233"/>
                </a:solidFill>
                <a:latin typeface="Calibri" pitchFamily="34" charset="0"/>
                <a:ea typeface="Calibri" pitchFamily="34" charset="-122"/>
                <a:cs typeface="Calibri" pitchFamily="34" charset="-120"/>
              </a:rPr>
              <a:t>Products range from 15% to 50% margin; 15 products earn under 20%.</a:t>
            </a:r>
            <a:endParaRPr lang="en-US" sz="1600" dirty="0"/>
          </a:p>
        </p:txBody>
      </p:sp>
      <p:sp>
        <p:nvSpPr>
          <p:cNvPr id="19" name="Shape 17"/>
          <p:cNvSpPr/>
          <p:nvPr/>
        </p:nvSpPr>
        <p:spPr>
          <a:xfrm>
            <a:off x="548640" y="5166360"/>
            <a:ext cx="11064240" cy="841248"/>
          </a:xfrm>
          <a:prstGeom prst="roundRect">
            <a:avLst>
              <a:gd name="adj" fmla="val 10870"/>
            </a:avLst>
          </a:prstGeom>
          <a:solidFill>
            <a:srgbClr val="F4EEF8"/>
          </a:solidFill>
          <a:ln w="12700">
            <a:solidFill>
              <a:srgbClr val="F4EEF8"/>
            </a:solidFill>
            <a:prstDash val="solid"/>
          </a:ln>
        </p:spPr>
      </p:sp>
      <p:sp>
        <p:nvSpPr>
          <p:cNvPr id="20" name="Shape 18"/>
          <p:cNvSpPr/>
          <p:nvPr/>
        </p:nvSpPr>
        <p:spPr>
          <a:xfrm>
            <a:off x="731520" y="5358384"/>
            <a:ext cx="457200" cy="457200"/>
          </a:xfrm>
          <a:prstGeom prst="ellipse">
            <a:avLst/>
          </a:prstGeom>
          <a:solidFill>
            <a:srgbClr val="4B1D6B"/>
          </a:solidFill>
          <a:ln w="12700">
            <a:solidFill>
              <a:srgbClr val="4B1D6B"/>
            </a:solidFill>
            <a:prstDash val="solid"/>
          </a:ln>
        </p:spPr>
      </p:sp>
      <p:sp>
        <p:nvSpPr>
          <p:cNvPr id="21" name="Text 19"/>
          <p:cNvSpPr txBox="1"/>
          <p:nvPr/>
        </p:nvSpPr>
        <p:spPr>
          <a:xfrm>
            <a:off x="731520" y="53583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2" name="Text 20"/>
          <p:cNvSpPr txBox="1"/>
          <p:nvPr/>
        </p:nvSpPr>
        <p:spPr>
          <a:xfrm>
            <a:off x="1463040" y="5166360"/>
            <a:ext cx="9966960" cy="841248"/>
          </a:xfrm>
          <a:prstGeom prst="rect">
            <a:avLst/>
          </a:prstGeom>
          <a:noFill/>
          <a:ln/>
        </p:spPr>
        <p:txBody>
          <a:bodyPr wrap="square" lIns="0" tIns="0" rIns="0" bIns="0" rtlCol="0" anchor="ctr"/>
          <a:lstStyle/>
          <a:p>
            <a:pPr indent="0" marL="0">
              <a:buNone/>
            </a:pPr>
            <a:r>
              <a:rPr lang="en-US" sz="1600" b="1" dirty="0">
                <a:solidFill>
                  <a:srgbClr val="2E0F45"/>
                </a:solidFill>
                <a:latin typeface="Calibri" pitchFamily="34" charset="0"/>
                <a:ea typeface="Calibri" pitchFamily="34" charset="-122"/>
                <a:cs typeface="Calibri" pitchFamily="34" charset="-120"/>
              </a:rPr>
              <a:t>Sales run at 3.7 times budget.  </a:t>
            </a:r>
            <a:pPr indent="0" marL="0">
              <a:buNone/>
            </a:pPr>
            <a:r>
              <a:rPr lang="en-US" sz="1600" dirty="0">
                <a:solidFill>
                  <a:srgbClr val="2B2233"/>
                </a:solidFill>
                <a:latin typeface="Calibri" pitchFamily="34" charset="0"/>
                <a:ea typeface="Calibri" pitchFamily="34" charset="-122"/>
                <a:cs typeface="Calibri" pitchFamily="34" charset="-120"/>
              </a:rPr>
              <a:t>Every location beats budget, and the budget curve does not match real seasonality.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3200" b="1" dirty="0">
                <a:solidFill>
                  <a:srgbClr val="2E0F45"/>
                </a:solidFill>
                <a:latin typeface="Cambria" pitchFamily="34" charset="0"/>
                <a:ea typeface="Cambria" pitchFamily="34" charset="-122"/>
                <a:cs typeface="Cambria" pitchFamily="34" charset="-120"/>
              </a:rPr>
              <a:t>Problems and recommendations</a:t>
            </a:r>
            <a:endParaRPr lang="en-US" sz="3200" dirty="0"/>
          </a:p>
        </p:txBody>
      </p:sp>
      <p:sp>
        <p:nvSpPr>
          <p:cNvPr id="3" name="Text 1"/>
          <p:cNvSpPr txBox="1"/>
          <p:nvPr/>
        </p:nvSpPr>
        <p:spPr>
          <a:xfrm>
            <a:off x="548640" y="1188720"/>
            <a:ext cx="5029200" cy="274320"/>
          </a:xfrm>
          <a:prstGeom prst="rect">
            <a:avLst/>
          </a:prstGeom>
          <a:noFill/>
          <a:ln/>
        </p:spPr>
        <p:txBody>
          <a:bodyPr wrap="square" lIns="0" tIns="0" rIns="0" bIns="0" rtlCol="0" anchor="t"/>
          <a:lstStyle/>
          <a:p>
            <a:pPr indent="0" marL="0">
              <a:buNone/>
            </a:pPr>
            <a:r>
              <a:rPr lang="en-US" sz="1200" b="1" spc="300" kern="0" dirty="0">
                <a:solidFill>
                  <a:srgbClr val="6E6478"/>
                </a:solidFill>
                <a:latin typeface="Calibri" pitchFamily="34" charset="0"/>
                <a:ea typeface="Calibri" pitchFamily="34" charset="-122"/>
                <a:cs typeface="Calibri" pitchFamily="34" charset="-120"/>
              </a:rPr>
              <a:t>PROBLEM</a:t>
            </a:r>
            <a:endParaRPr lang="en-US" sz="1200" dirty="0"/>
          </a:p>
        </p:txBody>
      </p:sp>
      <p:sp>
        <p:nvSpPr>
          <p:cNvPr id="4" name="Text 2"/>
          <p:cNvSpPr txBox="1"/>
          <p:nvPr/>
        </p:nvSpPr>
        <p:spPr>
          <a:xfrm>
            <a:off x="6400800" y="1188720"/>
            <a:ext cx="5212080" cy="274320"/>
          </a:xfrm>
          <a:prstGeom prst="rect">
            <a:avLst/>
          </a:prstGeom>
          <a:noFill/>
          <a:ln/>
        </p:spPr>
        <p:txBody>
          <a:bodyPr wrap="square" lIns="0" tIns="0" rIns="0" bIns="0" rtlCol="0" anchor="t"/>
          <a:lstStyle/>
          <a:p>
            <a:pPr indent="0" marL="0">
              <a:buNone/>
            </a:pPr>
            <a:r>
              <a:rPr lang="en-US" sz="1200" b="1" spc="300" kern="0" dirty="0">
                <a:solidFill>
                  <a:srgbClr val="6E6478"/>
                </a:solidFill>
                <a:latin typeface="Calibri" pitchFamily="34" charset="0"/>
                <a:ea typeface="Calibri" pitchFamily="34" charset="-122"/>
                <a:cs typeface="Calibri" pitchFamily="34" charset="-120"/>
              </a:rPr>
              <a:t>RECOMMENDATION</a:t>
            </a:r>
            <a:endParaRPr lang="en-US" sz="1200" dirty="0"/>
          </a:p>
        </p:txBody>
      </p:sp>
      <p:sp>
        <p:nvSpPr>
          <p:cNvPr id="5" name="Shape 3"/>
          <p:cNvSpPr/>
          <p:nvPr/>
        </p:nvSpPr>
        <p:spPr>
          <a:xfrm>
            <a:off x="548640" y="1554480"/>
            <a:ext cx="5394960" cy="822960"/>
          </a:xfrm>
          <a:prstGeom prst="roundRect">
            <a:avLst>
              <a:gd name="adj" fmla="val 11111"/>
            </a:avLst>
          </a:prstGeom>
          <a:solidFill>
            <a:srgbClr val="F4EEF8"/>
          </a:solidFill>
          <a:ln w="12700">
            <a:solidFill>
              <a:srgbClr val="F4EEF8"/>
            </a:solidFill>
            <a:prstDash val="solid"/>
          </a:ln>
        </p:spPr>
      </p:sp>
      <p:sp>
        <p:nvSpPr>
          <p:cNvPr id="6" name="Text 4"/>
          <p:cNvSpPr txBox="1"/>
          <p:nvPr/>
        </p:nvSpPr>
        <p:spPr>
          <a:xfrm>
            <a:off x="731520" y="1554480"/>
            <a:ext cx="5029200" cy="822960"/>
          </a:xfrm>
          <a:prstGeom prst="rect">
            <a:avLst/>
          </a:prstGeom>
          <a:noFill/>
          <a:ln/>
        </p:spPr>
        <p:txBody>
          <a:bodyPr wrap="square" lIns="0" tIns="0" rIns="0" bIns="0" rtlCol="0" anchor="ctr"/>
          <a:lstStyle/>
          <a:p>
            <a:pPr indent="0" marL="0">
              <a:buNone/>
            </a:pPr>
            <a:r>
              <a:rPr lang="en-US" sz="1400" dirty="0">
                <a:solidFill>
                  <a:srgbClr val="2B2233"/>
                </a:solidFill>
                <a:latin typeface="Calibri" pitchFamily="34" charset="0"/>
                <a:ea typeface="Calibri" pitchFamily="34" charset="-122"/>
                <a:cs typeface="Calibri" pitchFamily="34" charset="-120"/>
              </a:rPr>
              <a:t>No growth: orders, units and revenue all slipped in 2022.</a:t>
            </a:r>
            <a:endParaRPr lang="en-US" sz="1400" dirty="0"/>
          </a:p>
        </p:txBody>
      </p:sp>
      <p:sp>
        <p:nvSpPr>
          <p:cNvPr id="7" name="Shape 5"/>
          <p:cNvSpPr/>
          <p:nvPr/>
        </p:nvSpPr>
        <p:spPr>
          <a:xfrm>
            <a:off x="6035040" y="1801368"/>
            <a:ext cx="274320" cy="329184"/>
          </a:xfrm>
          <a:prstGeom prst="rightArrow">
            <a:avLst/>
          </a:prstGeom>
          <a:solidFill>
            <a:srgbClr val="F2A900"/>
          </a:solidFill>
          <a:ln w="12700">
            <a:solidFill>
              <a:srgbClr val="F2A900"/>
            </a:solidFill>
            <a:prstDash val="solid"/>
          </a:ln>
        </p:spPr>
      </p:sp>
      <p:sp>
        <p:nvSpPr>
          <p:cNvPr id="8" name="Shape 6"/>
          <p:cNvSpPr/>
          <p:nvPr/>
        </p:nvSpPr>
        <p:spPr>
          <a:xfrm>
            <a:off x="6400800" y="1554480"/>
            <a:ext cx="5212080" cy="822960"/>
          </a:xfrm>
          <a:prstGeom prst="roundRect">
            <a:avLst>
              <a:gd name="adj" fmla="val 11111"/>
            </a:avLst>
          </a:prstGeom>
          <a:solidFill>
            <a:srgbClr val="4B1D6B"/>
          </a:solidFill>
          <a:ln w="12700">
            <a:solidFill>
              <a:srgbClr val="4B1D6B"/>
            </a:solidFill>
            <a:prstDash val="solid"/>
          </a:ln>
        </p:spPr>
      </p:sp>
      <p:sp>
        <p:nvSpPr>
          <p:cNvPr id="9" name="Text 7"/>
          <p:cNvSpPr txBox="1"/>
          <p:nvPr/>
        </p:nvSpPr>
        <p:spPr>
          <a:xfrm>
            <a:off x="6583680" y="1554480"/>
            <a:ext cx="484632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Pay and coach for profit. Pair salespeople who fell most with those who grew most.</a:t>
            </a:r>
            <a:endParaRPr lang="en-US" sz="1400" dirty="0"/>
          </a:p>
        </p:txBody>
      </p:sp>
      <p:sp>
        <p:nvSpPr>
          <p:cNvPr id="10" name="Shape 8"/>
          <p:cNvSpPr/>
          <p:nvPr/>
        </p:nvSpPr>
        <p:spPr>
          <a:xfrm>
            <a:off x="548640" y="2487168"/>
            <a:ext cx="5394960" cy="822960"/>
          </a:xfrm>
          <a:prstGeom prst="roundRect">
            <a:avLst>
              <a:gd name="adj" fmla="val 11111"/>
            </a:avLst>
          </a:prstGeom>
          <a:solidFill>
            <a:srgbClr val="F4EEF8"/>
          </a:solidFill>
          <a:ln w="12700">
            <a:solidFill>
              <a:srgbClr val="F4EEF8"/>
            </a:solidFill>
            <a:prstDash val="solid"/>
          </a:ln>
        </p:spPr>
      </p:sp>
      <p:sp>
        <p:nvSpPr>
          <p:cNvPr id="11" name="Text 9"/>
          <p:cNvSpPr txBox="1"/>
          <p:nvPr/>
        </p:nvSpPr>
        <p:spPr>
          <a:xfrm>
            <a:off x="731520" y="2487168"/>
            <a:ext cx="5029200" cy="822960"/>
          </a:xfrm>
          <a:prstGeom prst="rect">
            <a:avLst/>
          </a:prstGeom>
          <a:noFill/>
          <a:ln/>
        </p:spPr>
        <p:txBody>
          <a:bodyPr wrap="square" lIns="0" tIns="0" rIns="0" bIns="0" rtlCol="0" anchor="ctr"/>
          <a:lstStyle/>
          <a:p>
            <a:pPr indent="0" marL="0">
              <a:buNone/>
            </a:pPr>
            <a:r>
              <a:rPr lang="en-US" sz="1400" dirty="0">
                <a:solidFill>
                  <a:srgbClr val="2B2233"/>
                </a:solidFill>
                <a:latin typeface="Calibri" pitchFamily="34" charset="0"/>
                <a:ea typeface="Calibri" pitchFamily="34" charset="-122"/>
                <a:cs typeface="Calibri" pitchFamily="34" charset="-120"/>
              </a:rPr>
              <a:t>The biggest cities are under-served, at ₹0.10 per resident in Los Angeles.</a:t>
            </a:r>
            <a:endParaRPr lang="en-US" sz="1400" dirty="0"/>
          </a:p>
        </p:txBody>
      </p:sp>
      <p:sp>
        <p:nvSpPr>
          <p:cNvPr id="12" name="Shape 10"/>
          <p:cNvSpPr/>
          <p:nvPr/>
        </p:nvSpPr>
        <p:spPr>
          <a:xfrm>
            <a:off x="6035040" y="2734056"/>
            <a:ext cx="274320" cy="329184"/>
          </a:xfrm>
          <a:prstGeom prst="rightArrow">
            <a:avLst/>
          </a:prstGeom>
          <a:solidFill>
            <a:srgbClr val="F2A900"/>
          </a:solidFill>
          <a:ln w="12700">
            <a:solidFill>
              <a:srgbClr val="F2A900"/>
            </a:solidFill>
            <a:prstDash val="solid"/>
          </a:ln>
        </p:spPr>
      </p:sp>
      <p:sp>
        <p:nvSpPr>
          <p:cNvPr id="13" name="Shape 11"/>
          <p:cNvSpPr/>
          <p:nvPr/>
        </p:nvSpPr>
        <p:spPr>
          <a:xfrm>
            <a:off x="6400800" y="2487168"/>
            <a:ext cx="5212080" cy="822960"/>
          </a:xfrm>
          <a:prstGeom prst="roundRect">
            <a:avLst>
              <a:gd name="adj" fmla="val 11111"/>
            </a:avLst>
          </a:prstGeom>
          <a:solidFill>
            <a:srgbClr val="4B1D6B"/>
          </a:solidFill>
          <a:ln w="12700">
            <a:solidFill>
              <a:srgbClr val="4B1D6B"/>
            </a:solidFill>
            <a:prstDash val="solid"/>
          </a:ln>
        </p:spPr>
      </p:sp>
      <p:sp>
        <p:nvSpPr>
          <p:cNvPr id="14" name="Text 12"/>
          <p:cNvSpPr txBox="1"/>
          <p:nvPr/>
        </p:nvSpPr>
        <p:spPr>
          <a:xfrm>
            <a:off x="6583680" y="2487168"/>
            <a:ext cx="484632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Pilot a big-city programme in Los Angeles, San Diego and San Francisco.</a:t>
            </a:r>
            <a:endParaRPr lang="en-US" sz="1400" dirty="0"/>
          </a:p>
        </p:txBody>
      </p:sp>
      <p:sp>
        <p:nvSpPr>
          <p:cNvPr id="15" name="Shape 13"/>
          <p:cNvSpPr/>
          <p:nvPr/>
        </p:nvSpPr>
        <p:spPr>
          <a:xfrm>
            <a:off x="548640" y="3419856"/>
            <a:ext cx="5394960" cy="822960"/>
          </a:xfrm>
          <a:prstGeom prst="roundRect">
            <a:avLst>
              <a:gd name="adj" fmla="val 11111"/>
            </a:avLst>
          </a:prstGeom>
          <a:solidFill>
            <a:srgbClr val="F4EEF8"/>
          </a:solidFill>
          <a:ln w="12700">
            <a:solidFill>
              <a:srgbClr val="F4EEF8"/>
            </a:solidFill>
            <a:prstDash val="solid"/>
          </a:ln>
        </p:spPr>
      </p:sp>
      <p:sp>
        <p:nvSpPr>
          <p:cNvPr id="16" name="Text 14"/>
          <p:cNvSpPr txBox="1"/>
          <p:nvPr/>
        </p:nvSpPr>
        <p:spPr>
          <a:xfrm>
            <a:off x="731520" y="3419856"/>
            <a:ext cx="5029200" cy="822960"/>
          </a:xfrm>
          <a:prstGeom prst="rect">
            <a:avLst/>
          </a:prstGeom>
          <a:noFill/>
          <a:ln/>
        </p:spPr>
        <p:txBody>
          <a:bodyPr wrap="square" lIns="0" tIns="0" rIns="0" bIns="0" rtlCol="0" anchor="ctr"/>
          <a:lstStyle/>
          <a:p>
            <a:pPr indent="0" marL="0">
              <a:buNone/>
            </a:pPr>
            <a:r>
              <a:rPr lang="en-US" sz="1400" dirty="0">
                <a:solidFill>
                  <a:srgbClr val="2B2233"/>
                </a:solidFill>
                <a:latin typeface="Calibri" pitchFamily="34" charset="0"/>
                <a:ea typeface="Calibri" pitchFamily="34" charset="-122"/>
                <a:cs typeface="Calibri" pitchFamily="34" charset="-120"/>
              </a:rPr>
              <a:t>Best sellers such as Products 84, 66 and 4 earn under 20%.</a:t>
            </a:r>
            <a:endParaRPr lang="en-US" sz="1400" dirty="0"/>
          </a:p>
        </p:txBody>
      </p:sp>
      <p:sp>
        <p:nvSpPr>
          <p:cNvPr id="17" name="Shape 15"/>
          <p:cNvSpPr/>
          <p:nvPr/>
        </p:nvSpPr>
        <p:spPr>
          <a:xfrm>
            <a:off x="6035040" y="3666744"/>
            <a:ext cx="274320" cy="329184"/>
          </a:xfrm>
          <a:prstGeom prst="rightArrow">
            <a:avLst/>
          </a:prstGeom>
          <a:solidFill>
            <a:srgbClr val="F2A900"/>
          </a:solidFill>
          <a:ln w="12700">
            <a:solidFill>
              <a:srgbClr val="F2A900"/>
            </a:solidFill>
            <a:prstDash val="solid"/>
          </a:ln>
        </p:spPr>
      </p:sp>
      <p:sp>
        <p:nvSpPr>
          <p:cNvPr id="18" name="Shape 16"/>
          <p:cNvSpPr/>
          <p:nvPr/>
        </p:nvSpPr>
        <p:spPr>
          <a:xfrm>
            <a:off x="6400800" y="3419856"/>
            <a:ext cx="5212080" cy="822960"/>
          </a:xfrm>
          <a:prstGeom prst="roundRect">
            <a:avLst>
              <a:gd name="adj" fmla="val 11111"/>
            </a:avLst>
          </a:prstGeom>
          <a:solidFill>
            <a:srgbClr val="4B1D6B"/>
          </a:solidFill>
          <a:ln w="12700">
            <a:solidFill>
              <a:srgbClr val="4B1D6B"/>
            </a:solidFill>
            <a:prstDash val="solid"/>
          </a:ln>
        </p:spPr>
      </p:sp>
      <p:sp>
        <p:nvSpPr>
          <p:cNvPr id="19" name="Text 17"/>
          <p:cNvSpPr txBox="1"/>
          <p:nvPr/>
        </p:nvSpPr>
        <p:spPr>
          <a:xfrm>
            <a:off x="6583680" y="3419856"/>
            <a:ext cx="484632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Fix price or cost. Reaching 25% on the weakest 15 adds about ₹259K profit.</a:t>
            </a:r>
            <a:endParaRPr lang="en-US" sz="1400" dirty="0"/>
          </a:p>
        </p:txBody>
      </p:sp>
      <p:sp>
        <p:nvSpPr>
          <p:cNvPr id="20" name="Shape 18"/>
          <p:cNvSpPr/>
          <p:nvPr/>
        </p:nvSpPr>
        <p:spPr>
          <a:xfrm>
            <a:off x="548640" y="4352544"/>
            <a:ext cx="5394960" cy="822960"/>
          </a:xfrm>
          <a:prstGeom prst="roundRect">
            <a:avLst>
              <a:gd name="adj" fmla="val 11111"/>
            </a:avLst>
          </a:prstGeom>
          <a:solidFill>
            <a:srgbClr val="F4EEF8"/>
          </a:solidFill>
          <a:ln w="12700">
            <a:solidFill>
              <a:srgbClr val="F4EEF8"/>
            </a:solidFill>
            <a:prstDash val="solid"/>
          </a:ln>
        </p:spPr>
      </p:sp>
      <p:sp>
        <p:nvSpPr>
          <p:cNvPr id="21" name="Text 19"/>
          <p:cNvSpPr txBox="1"/>
          <p:nvPr/>
        </p:nvSpPr>
        <p:spPr>
          <a:xfrm>
            <a:off x="731520" y="4352544"/>
            <a:ext cx="5029200" cy="822960"/>
          </a:xfrm>
          <a:prstGeom prst="rect">
            <a:avLst/>
          </a:prstGeom>
          <a:noFill/>
          <a:ln/>
        </p:spPr>
        <p:txBody>
          <a:bodyPr wrap="square" lIns="0" tIns="0" rIns="0" bIns="0" rtlCol="0" anchor="ctr"/>
          <a:lstStyle/>
          <a:p>
            <a:pPr indent="0" marL="0">
              <a:buNone/>
            </a:pPr>
            <a:r>
              <a:rPr lang="en-US" sz="1400" dirty="0">
                <a:solidFill>
                  <a:srgbClr val="2B2233"/>
                </a:solidFill>
                <a:latin typeface="Calibri" pitchFamily="34" charset="0"/>
                <a:ea typeface="Calibri" pitchFamily="34" charset="-122"/>
                <a:cs typeface="Calibri" pitchFamily="34" charset="-120"/>
              </a:rPr>
              <a:t>The budget is at 3.7 times actuals, ignores seasonality and has 23 orphan rows.</a:t>
            </a:r>
            <a:endParaRPr lang="en-US" sz="1400" dirty="0"/>
          </a:p>
        </p:txBody>
      </p:sp>
      <p:sp>
        <p:nvSpPr>
          <p:cNvPr id="22" name="Shape 20"/>
          <p:cNvSpPr/>
          <p:nvPr/>
        </p:nvSpPr>
        <p:spPr>
          <a:xfrm>
            <a:off x="6035040" y="4599432"/>
            <a:ext cx="274320" cy="329184"/>
          </a:xfrm>
          <a:prstGeom prst="rightArrow">
            <a:avLst/>
          </a:prstGeom>
          <a:solidFill>
            <a:srgbClr val="F2A900"/>
          </a:solidFill>
          <a:ln w="12700">
            <a:solidFill>
              <a:srgbClr val="F2A900"/>
            </a:solidFill>
            <a:prstDash val="solid"/>
          </a:ln>
        </p:spPr>
      </p:sp>
      <p:sp>
        <p:nvSpPr>
          <p:cNvPr id="23" name="Shape 21"/>
          <p:cNvSpPr/>
          <p:nvPr/>
        </p:nvSpPr>
        <p:spPr>
          <a:xfrm>
            <a:off x="6400800" y="4352544"/>
            <a:ext cx="5212080" cy="822960"/>
          </a:xfrm>
          <a:prstGeom prst="roundRect">
            <a:avLst>
              <a:gd name="adj" fmla="val 11111"/>
            </a:avLst>
          </a:prstGeom>
          <a:solidFill>
            <a:srgbClr val="4B1D6B"/>
          </a:solidFill>
          <a:ln w="12700">
            <a:solidFill>
              <a:srgbClr val="4B1D6B"/>
            </a:solidFill>
            <a:prstDash val="solid"/>
          </a:ln>
        </p:spPr>
      </p:sp>
      <p:sp>
        <p:nvSpPr>
          <p:cNvPr id="24" name="Text 22"/>
          <p:cNvSpPr txBox="1"/>
          <p:nvPr/>
        </p:nvSpPr>
        <p:spPr>
          <a:xfrm>
            <a:off x="6583680" y="4352544"/>
            <a:ext cx="484632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Rebuild it: year-specific, per location, phased by real monthly sales.</a:t>
            </a:r>
            <a:endParaRPr lang="en-US" sz="1400" dirty="0"/>
          </a:p>
        </p:txBody>
      </p:sp>
      <p:sp>
        <p:nvSpPr>
          <p:cNvPr id="25" name="Shape 23"/>
          <p:cNvSpPr/>
          <p:nvPr/>
        </p:nvSpPr>
        <p:spPr>
          <a:xfrm>
            <a:off x="548640" y="5285232"/>
            <a:ext cx="5394960" cy="822960"/>
          </a:xfrm>
          <a:prstGeom prst="roundRect">
            <a:avLst>
              <a:gd name="adj" fmla="val 11111"/>
            </a:avLst>
          </a:prstGeom>
          <a:solidFill>
            <a:srgbClr val="F4EEF8"/>
          </a:solidFill>
          <a:ln w="12700">
            <a:solidFill>
              <a:srgbClr val="F4EEF8"/>
            </a:solidFill>
            <a:prstDash val="solid"/>
          </a:ln>
        </p:spPr>
      </p:sp>
      <p:sp>
        <p:nvSpPr>
          <p:cNvPr id="26" name="Text 24"/>
          <p:cNvSpPr txBox="1"/>
          <p:nvPr/>
        </p:nvSpPr>
        <p:spPr>
          <a:xfrm>
            <a:off x="731520" y="5285232"/>
            <a:ext cx="5029200" cy="822960"/>
          </a:xfrm>
          <a:prstGeom prst="rect">
            <a:avLst/>
          </a:prstGeom>
          <a:noFill/>
          <a:ln/>
        </p:spPr>
        <p:txBody>
          <a:bodyPr wrap="square" lIns="0" tIns="0" rIns="0" bIns="0" rtlCol="0" anchor="ctr"/>
          <a:lstStyle/>
          <a:p>
            <a:pPr indent="0" marL="0">
              <a:buNone/>
            </a:pPr>
            <a:r>
              <a:rPr lang="en-US" sz="1400" dirty="0">
                <a:solidFill>
                  <a:srgbClr val="2B2233"/>
                </a:solidFill>
                <a:latin typeface="Calibri" pitchFamily="34" charset="0"/>
                <a:ea typeface="Calibri" pitchFamily="34" charset="-122"/>
                <a:cs typeface="Calibri" pitchFamily="34" charset="-120"/>
              </a:rPr>
              <a:t>801 customer IDs share only 509 names.</a:t>
            </a:r>
            <a:endParaRPr lang="en-US" sz="1400" dirty="0"/>
          </a:p>
        </p:txBody>
      </p:sp>
      <p:sp>
        <p:nvSpPr>
          <p:cNvPr id="27" name="Shape 25"/>
          <p:cNvSpPr/>
          <p:nvPr/>
        </p:nvSpPr>
        <p:spPr>
          <a:xfrm>
            <a:off x="6035040" y="5532120"/>
            <a:ext cx="274320" cy="329184"/>
          </a:xfrm>
          <a:prstGeom prst="rightArrow">
            <a:avLst/>
          </a:prstGeom>
          <a:solidFill>
            <a:srgbClr val="F2A900"/>
          </a:solidFill>
          <a:ln w="12700">
            <a:solidFill>
              <a:srgbClr val="F2A900"/>
            </a:solidFill>
            <a:prstDash val="solid"/>
          </a:ln>
        </p:spPr>
      </p:sp>
      <p:sp>
        <p:nvSpPr>
          <p:cNvPr id="28" name="Shape 26"/>
          <p:cNvSpPr/>
          <p:nvPr/>
        </p:nvSpPr>
        <p:spPr>
          <a:xfrm>
            <a:off x="6400800" y="5285232"/>
            <a:ext cx="5212080" cy="822960"/>
          </a:xfrm>
          <a:prstGeom prst="roundRect">
            <a:avLst>
              <a:gd name="adj" fmla="val 11111"/>
            </a:avLst>
          </a:prstGeom>
          <a:solidFill>
            <a:srgbClr val="4B1D6B"/>
          </a:solidFill>
          <a:ln w="12700">
            <a:solidFill>
              <a:srgbClr val="4B1D6B"/>
            </a:solidFill>
            <a:prstDash val="solid"/>
          </a:ln>
        </p:spPr>
      </p:sp>
      <p:sp>
        <p:nvSpPr>
          <p:cNvPr id="29" name="Text 27"/>
          <p:cNvSpPr txBox="1"/>
          <p:nvPr/>
        </p:nvSpPr>
        <p:spPr>
          <a:xfrm>
            <a:off x="6583680" y="5285232"/>
            <a:ext cx="484632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Merge duplicate IDs, then tier customers by value and order frequency.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E0F45"/>
        </a:solidFill>
      </p:bgPr>
    </p:bg>
    <p:spTree>
      <p:nvGrpSpPr>
        <p:cNvPr id="1" name=""/>
        <p:cNvGrpSpPr/>
        <p:nvPr/>
      </p:nvGrpSpPr>
      <p:grpSpPr>
        <a:xfrm>
          <a:off x="0" y="0"/>
          <a:ext cx="0" cy="0"/>
          <a:chOff x="0" y="0"/>
          <a:chExt cx="0" cy="0"/>
        </a:xfrm>
      </p:grpSpPr>
      <p:sp>
        <p:nvSpPr>
          <p:cNvPr id="2" name="Text 0"/>
          <p:cNvSpPr txBox="1"/>
          <p:nvPr/>
        </p:nvSpPr>
        <p:spPr>
          <a:xfrm>
            <a:off x="731520" y="640080"/>
            <a:ext cx="10515600" cy="8229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What management should do next</a:t>
            </a:r>
            <a:endParaRPr lang="en-US" sz="3800" dirty="0"/>
          </a:p>
        </p:txBody>
      </p:sp>
      <p:sp>
        <p:nvSpPr>
          <p:cNvPr id="3" name="Shape 1"/>
          <p:cNvSpPr/>
          <p:nvPr/>
        </p:nvSpPr>
        <p:spPr>
          <a:xfrm>
            <a:off x="731520" y="1828800"/>
            <a:ext cx="10698480" cy="1188720"/>
          </a:xfrm>
          <a:prstGeom prst="roundRect">
            <a:avLst>
              <a:gd name="adj" fmla="val 7692"/>
            </a:avLst>
          </a:prstGeom>
          <a:solidFill>
            <a:srgbClr val="4B1D6B"/>
          </a:solidFill>
          <a:ln w="12700">
            <a:solidFill>
              <a:srgbClr val="4B1D6B"/>
            </a:solidFill>
            <a:prstDash val="solid"/>
          </a:ln>
        </p:spPr>
      </p:sp>
      <p:sp>
        <p:nvSpPr>
          <p:cNvPr id="4" name="Shape 2"/>
          <p:cNvSpPr/>
          <p:nvPr/>
        </p:nvSpPr>
        <p:spPr>
          <a:xfrm>
            <a:off x="960120" y="2194560"/>
            <a:ext cx="457200" cy="457200"/>
          </a:xfrm>
          <a:prstGeom prst="ellipse">
            <a:avLst/>
          </a:prstGeom>
          <a:solidFill>
            <a:srgbClr val="F2A900"/>
          </a:solidFill>
          <a:ln w="12700">
            <a:solidFill>
              <a:srgbClr val="F2A900"/>
            </a:solidFill>
            <a:prstDash val="solid"/>
          </a:ln>
        </p:spPr>
      </p:sp>
      <p:sp>
        <p:nvSpPr>
          <p:cNvPr id="5" name="Text 3"/>
          <p:cNvSpPr txBox="1"/>
          <p:nvPr/>
        </p:nvSpPr>
        <p:spPr>
          <a:xfrm>
            <a:off x="960120" y="2194560"/>
            <a:ext cx="457200" cy="457200"/>
          </a:xfrm>
          <a:prstGeom prst="rect">
            <a:avLst/>
          </a:prstGeom>
          <a:noFill/>
          <a:ln/>
        </p:spPr>
        <p:txBody>
          <a:bodyPr wrap="square" lIns="0" tIns="0" rIns="0" bIns="0" rtlCol="0" anchor="ctr"/>
          <a:lstStyle/>
          <a:p>
            <a:pPr algn="ctr" indent="0" marL="0">
              <a:buNone/>
            </a:pPr>
            <a:r>
              <a:rPr lang="en-US" sz="1600" b="1" dirty="0">
                <a:solidFill>
                  <a:srgbClr val="2E0F45"/>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691640" y="1956816"/>
            <a:ext cx="9418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Reset the budget</a:t>
            </a:r>
            <a:endParaRPr lang="en-US" sz="2200" dirty="0"/>
          </a:p>
        </p:txBody>
      </p:sp>
      <p:sp>
        <p:nvSpPr>
          <p:cNvPr id="7" name="Text 5"/>
          <p:cNvSpPr txBox="1"/>
          <p:nvPr/>
        </p:nvSpPr>
        <p:spPr>
          <a:xfrm>
            <a:off x="1691640" y="2450592"/>
            <a:ext cx="9418320" cy="457200"/>
          </a:xfrm>
          <a:prstGeom prst="rect">
            <a:avLst/>
          </a:prstGeom>
          <a:noFill/>
          <a:ln/>
        </p:spPr>
        <p:txBody>
          <a:bodyPr wrap="square" lIns="0" tIns="0" rIns="0" bIns="0" rtlCol="0" anchor="t"/>
          <a:lstStyle/>
          <a:p>
            <a:pPr indent="0" marL="0">
              <a:buNone/>
            </a:pPr>
            <a:r>
              <a:rPr lang="en-US" sz="1500" dirty="0">
                <a:solidFill>
                  <a:srgbClr val="D9C9E6"/>
                </a:solidFill>
                <a:latin typeface="Calibri" pitchFamily="34" charset="0"/>
                <a:ea typeface="Calibri" pitchFamily="34" charset="-122"/>
                <a:cs typeface="Calibri" pitchFamily="34" charset="-120"/>
              </a:rPr>
              <a:t>Year-specific, per location, phased by real sales. Make it a control again.</a:t>
            </a:r>
            <a:endParaRPr lang="en-US" sz="1500" dirty="0"/>
          </a:p>
        </p:txBody>
      </p:sp>
      <p:sp>
        <p:nvSpPr>
          <p:cNvPr id="8" name="Shape 6"/>
          <p:cNvSpPr/>
          <p:nvPr/>
        </p:nvSpPr>
        <p:spPr>
          <a:xfrm>
            <a:off x="731520" y="3200400"/>
            <a:ext cx="10698480" cy="1188720"/>
          </a:xfrm>
          <a:prstGeom prst="roundRect">
            <a:avLst>
              <a:gd name="adj" fmla="val 7692"/>
            </a:avLst>
          </a:prstGeom>
          <a:solidFill>
            <a:srgbClr val="4B1D6B"/>
          </a:solidFill>
          <a:ln w="12700">
            <a:solidFill>
              <a:srgbClr val="4B1D6B"/>
            </a:solidFill>
            <a:prstDash val="solid"/>
          </a:ln>
        </p:spPr>
      </p:sp>
      <p:sp>
        <p:nvSpPr>
          <p:cNvPr id="9" name="Shape 7"/>
          <p:cNvSpPr/>
          <p:nvPr/>
        </p:nvSpPr>
        <p:spPr>
          <a:xfrm>
            <a:off x="960120" y="3566160"/>
            <a:ext cx="457200" cy="457200"/>
          </a:xfrm>
          <a:prstGeom prst="ellipse">
            <a:avLst/>
          </a:prstGeom>
          <a:solidFill>
            <a:srgbClr val="F2A900"/>
          </a:solidFill>
          <a:ln w="12700">
            <a:solidFill>
              <a:srgbClr val="F2A900"/>
            </a:solidFill>
            <a:prstDash val="solid"/>
          </a:ln>
        </p:spPr>
      </p:sp>
      <p:sp>
        <p:nvSpPr>
          <p:cNvPr id="10" name="Text 8"/>
          <p:cNvSpPr txBox="1"/>
          <p:nvPr/>
        </p:nvSpPr>
        <p:spPr>
          <a:xfrm>
            <a:off x="960120" y="3566160"/>
            <a:ext cx="457200" cy="457200"/>
          </a:xfrm>
          <a:prstGeom prst="rect">
            <a:avLst/>
          </a:prstGeom>
          <a:noFill/>
          <a:ln/>
        </p:spPr>
        <p:txBody>
          <a:bodyPr wrap="square" lIns="0" tIns="0" rIns="0" bIns="0" rtlCol="0" anchor="ctr"/>
          <a:lstStyle/>
          <a:p>
            <a:pPr algn="ctr" indent="0" marL="0">
              <a:buNone/>
            </a:pPr>
            <a:r>
              <a:rPr lang="en-US" sz="1600" b="1" dirty="0">
                <a:solidFill>
                  <a:srgbClr val="2E0F45"/>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1691640" y="3328416"/>
            <a:ext cx="9418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Grow the largest cities</a:t>
            </a:r>
            <a:endParaRPr lang="en-US" sz="2200" dirty="0"/>
          </a:p>
        </p:txBody>
      </p:sp>
      <p:sp>
        <p:nvSpPr>
          <p:cNvPr id="12" name="Text 10"/>
          <p:cNvSpPr txBox="1"/>
          <p:nvPr/>
        </p:nvSpPr>
        <p:spPr>
          <a:xfrm>
            <a:off x="1691640" y="3822192"/>
            <a:ext cx="9418320" cy="457200"/>
          </a:xfrm>
          <a:prstGeom prst="rect">
            <a:avLst/>
          </a:prstGeom>
          <a:noFill/>
          <a:ln/>
        </p:spPr>
        <p:txBody>
          <a:bodyPr wrap="square" lIns="0" tIns="0" rIns="0" bIns="0" rtlCol="0" anchor="t"/>
          <a:lstStyle/>
          <a:p>
            <a:pPr indent="0" marL="0">
              <a:buNone/>
            </a:pPr>
            <a:r>
              <a:rPr lang="en-US" sz="1500" dirty="0">
                <a:solidFill>
                  <a:srgbClr val="D9C9E6"/>
                </a:solidFill>
                <a:latin typeface="Calibri" pitchFamily="34" charset="0"/>
                <a:ea typeface="Calibri" pitchFamily="34" charset="-122"/>
                <a:cs typeface="Calibri" pitchFamily="34" charset="-120"/>
              </a:rPr>
              <a:t>Los Angeles, San Diego and San Francisco: 46% of the population, 10% of revenue.</a:t>
            </a:r>
            <a:endParaRPr lang="en-US" sz="1500" dirty="0"/>
          </a:p>
        </p:txBody>
      </p:sp>
      <p:sp>
        <p:nvSpPr>
          <p:cNvPr id="13" name="Shape 11"/>
          <p:cNvSpPr/>
          <p:nvPr/>
        </p:nvSpPr>
        <p:spPr>
          <a:xfrm>
            <a:off x="731520" y="4572000"/>
            <a:ext cx="10698480" cy="1188720"/>
          </a:xfrm>
          <a:prstGeom prst="roundRect">
            <a:avLst>
              <a:gd name="adj" fmla="val 7692"/>
            </a:avLst>
          </a:prstGeom>
          <a:solidFill>
            <a:srgbClr val="4B1D6B"/>
          </a:solidFill>
          <a:ln w="12700">
            <a:solidFill>
              <a:srgbClr val="4B1D6B"/>
            </a:solidFill>
            <a:prstDash val="solid"/>
          </a:ln>
        </p:spPr>
      </p:sp>
      <p:sp>
        <p:nvSpPr>
          <p:cNvPr id="14" name="Shape 12"/>
          <p:cNvSpPr/>
          <p:nvPr/>
        </p:nvSpPr>
        <p:spPr>
          <a:xfrm>
            <a:off x="960120" y="4937760"/>
            <a:ext cx="457200" cy="457200"/>
          </a:xfrm>
          <a:prstGeom prst="ellipse">
            <a:avLst/>
          </a:prstGeom>
          <a:solidFill>
            <a:srgbClr val="F2A900"/>
          </a:solidFill>
          <a:ln w="12700">
            <a:solidFill>
              <a:srgbClr val="F2A900"/>
            </a:solidFill>
            <a:prstDash val="solid"/>
          </a:ln>
        </p:spPr>
      </p:sp>
      <p:sp>
        <p:nvSpPr>
          <p:cNvPr id="15" name="Text 13"/>
          <p:cNvSpPr txBox="1"/>
          <p:nvPr/>
        </p:nvSpPr>
        <p:spPr>
          <a:xfrm>
            <a:off x="960120" y="4937760"/>
            <a:ext cx="457200" cy="457200"/>
          </a:xfrm>
          <a:prstGeom prst="rect">
            <a:avLst/>
          </a:prstGeom>
          <a:noFill/>
          <a:ln/>
        </p:spPr>
        <p:txBody>
          <a:bodyPr wrap="square" lIns="0" tIns="0" rIns="0" bIns="0" rtlCol="0" anchor="ctr"/>
          <a:lstStyle/>
          <a:p>
            <a:pPr algn="ctr" indent="0" marL="0">
              <a:buNone/>
            </a:pPr>
            <a:r>
              <a:rPr lang="en-US" sz="1600" b="1" dirty="0">
                <a:solidFill>
                  <a:srgbClr val="2E0F45"/>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691640" y="4700016"/>
            <a:ext cx="941832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Fix margin on best sellers</a:t>
            </a:r>
            <a:endParaRPr lang="en-US" sz="2200" dirty="0"/>
          </a:p>
        </p:txBody>
      </p:sp>
      <p:sp>
        <p:nvSpPr>
          <p:cNvPr id="17" name="Text 15"/>
          <p:cNvSpPr txBox="1"/>
          <p:nvPr/>
        </p:nvSpPr>
        <p:spPr>
          <a:xfrm>
            <a:off x="1691640" y="5193792"/>
            <a:ext cx="9418320" cy="457200"/>
          </a:xfrm>
          <a:prstGeom prst="rect">
            <a:avLst/>
          </a:prstGeom>
          <a:noFill/>
          <a:ln/>
        </p:spPr>
        <p:txBody>
          <a:bodyPr wrap="square" lIns="0" tIns="0" rIns="0" bIns="0" rtlCol="0" anchor="t"/>
          <a:lstStyle/>
          <a:p>
            <a:pPr indent="0" marL="0">
              <a:buNone/>
            </a:pPr>
            <a:r>
              <a:rPr lang="en-US" sz="1500" dirty="0">
                <a:solidFill>
                  <a:srgbClr val="D9C9E6"/>
                </a:solidFill>
                <a:latin typeface="Calibri" pitchFamily="34" charset="0"/>
                <a:ea typeface="Calibri" pitchFamily="34" charset="-122"/>
                <a:cs typeface="Calibri" pitchFamily="34" charset="-120"/>
              </a:rPr>
              <a:t>Products 84, 66 and 4 first. Then push the 50% margin products.</a:t>
            </a:r>
            <a:endParaRPr lang="en-US" sz="1500" dirty="0"/>
          </a:p>
        </p:txBody>
      </p:sp>
      <p:sp>
        <p:nvSpPr>
          <p:cNvPr id="18" name="Text 16"/>
          <p:cNvSpPr txBox="1"/>
          <p:nvPr/>
        </p:nvSpPr>
        <p:spPr>
          <a:xfrm>
            <a:off x="731520" y="5989320"/>
            <a:ext cx="10515600" cy="457200"/>
          </a:xfrm>
          <a:prstGeom prst="rect">
            <a:avLst/>
          </a:prstGeom>
          <a:noFill/>
          <a:ln/>
        </p:spPr>
        <p:txBody>
          <a:bodyPr wrap="square" lIns="0" tIns="0" rIns="0" bIns="0" rtlCol="0" anchor="t"/>
          <a:lstStyle/>
          <a:p>
            <a:pPr indent="0" marL="0">
              <a:buNone/>
            </a:pPr>
            <a:r>
              <a:rPr lang="en-US" sz="2000" b="1" dirty="0">
                <a:solidFill>
                  <a:srgbClr val="F2A900"/>
                </a:solidFill>
                <a:latin typeface="Calibri" pitchFamily="34" charset="0"/>
                <a:ea typeface="Calibri" pitchFamily="34" charset="-122"/>
                <a:cs typeface="Calibri" pitchFamily="34" charset="-120"/>
              </a:rPr>
              <a:t>Thank you.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Performance, Profitability &amp; Business Intelligence</dc:title>
  <dc:subject>PptxGenJS Presentation</dc:subject>
  <dc:creator>PptxGenJS</dc:creator>
  <cp:lastModifiedBy>PptxGenJS</cp:lastModifiedBy>
  <cp:revision>1</cp:revision>
  <dcterms:created xsi:type="dcterms:W3CDTF">2026-09-28T17:32:45Z</dcterms:created>
  <dcterms:modified xsi:type="dcterms:W3CDTF">2026-09-28T17:32:45Z</dcterms:modified>
</cp:coreProperties>
</file>